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9"/>
  </p:notesMasterIdLst>
  <p:sldIdLst>
    <p:sldId id="256" r:id="rId2"/>
    <p:sldId id="257" r:id="rId3"/>
    <p:sldId id="260" r:id="rId4"/>
    <p:sldId id="258" r:id="rId5"/>
    <p:sldId id="283" r:id="rId6"/>
    <p:sldId id="262" r:id="rId7"/>
    <p:sldId id="271" r:id="rId8"/>
    <p:sldId id="264" r:id="rId9"/>
    <p:sldId id="266" r:id="rId10"/>
    <p:sldId id="270" r:id="rId11"/>
    <p:sldId id="263" r:id="rId12"/>
    <p:sldId id="269" r:id="rId13"/>
    <p:sldId id="284" r:id="rId14"/>
    <p:sldId id="259" r:id="rId15"/>
    <p:sldId id="272" r:id="rId16"/>
    <p:sldId id="277" r:id="rId17"/>
    <p:sldId id="274" r:id="rId18"/>
    <p:sldId id="275" r:id="rId19"/>
    <p:sldId id="276" r:id="rId20"/>
    <p:sldId id="265" r:id="rId21"/>
    <p:sldId id="278" r:id="rId22"/>
    <p:sldId id="279" r:id="rId23"/>
    <p:sldId id="261" r:id="rId24"/>
    <p:sldId id="280" r:id="rId25"/>
    <p:sldId id="281" r:id="rId26"/>
    <p:sldId id="282" r:id="rId27"/>
    <p:sldId id="267"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003" autoAdjust="0"/>
    <p:restoredTop sz="80911" autoAdjust="0"/>
  </p:normalViewPr>
  <p:slideViewPr>
    <p:cSldViewPr snapToGrid="0">
      <p:cViewPr varScale="1">
        <p:scale>
          <a:sx n="129" d="100"/>
          <a:sy n="129" d="100"/>
        </p:scale>
        <p:origin x="1314" y="1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75ABE5E-EB1F-42BB-AD47-C72A690044A4}" type="datetimeFigureOut">
              <a:rPr lang="en-US" smtClean="0"/>
              <a:t>10/7/2025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5E419C-FC17-4E55-8423-7E8B989299E6}" type="slidenum">
              <a:rPr lang="en-US" smtClean="0"/>
              <a:t>‹#›</a:t>
            </a:fld>
            <a:endParaRPr lang="en-US"/>
          </a:p>
        </p:txBody>
      </p:sp>
    </p:spTree>
    <p:extLst>
      <p:ext uri="{BB962C8B-B14F-4D97-AF65-F5344CB8AC3E}">
        <p14:creationId xmlns:p14="http://schemas.microsoft.com/office/powerpoint/2010/main" val="6945809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everyone, thanks for joining me. </a:t>
            </a:r>
          </a:p>
          <a:p>
            <a:r>
              <a:rPr lang="en-US" dirty="0"/>
              <a:t>Today I’d like to talk about some work that we did on modeling the noise measured by back-illuminated silicon imaging sensors that are often used in astronomy.</a:t>
            </a:r>
          </a:p>
        </p:txBody>
      </p:sp>
      <p:sp>
        <p:nvSpPr>
          <p:cNvPr id="4" name="Slide Number Placeholder 3"/>
          <p:cNvSpPr>
            <a:spLocks noGrp="1"/>
          </p:cNvSpPr>
          <p:nvPr>
            <p:ph type="sldNum" sz="quarter" idx="5"/>
          </p:nvPr>
        </p:nvSpPr>
        <p:spPr/>
        <p:txBody>
          <a:bodyPr/>
          <a:lstStyle/>
          <a:p>
            <a:fld id="{855E419C-FC17-4E55-8423-7E8B989299E6}" type="slidenum">
              <a:rPr lang="en-US" smtClean="0"/>
              <a:t>1</a:t>
            </a:fld>
            <a:endParaRPr lang="en-US"/>
          </a:p>
        </p:txBody>
      </p:sp>
    </p:spTree>
    <p:extLst>
      <p:ext uri="{BB962C8B-B14F-4D97-AF65-F5344CB8AC3E}">
        <p14:creationId xmlns:p14="http://schemas.microsoft.com/office/powerpoint/2010/main" val="8200514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I’d like to begin with a bit of a mystery.</a:t>
            </a:r>
          </a:p>
          <a:p>
            <a:r>
              <a:rPr lang="en-US" dirty="0"/>
              <a:t>The Interface Region Imaging Spectrograph, or IRIS, is a NASA satellite that’s currently observing the Sun in ultraviolet, and its optics actually were tested here at MSU.</a:t>
            </a:r>
          </a:p>
          <a:p>
            <a:r>
              <a:rPr lang="en-US" dirty="0"/>
              <a:t>IRIS uses back-illuminated CCDs to detect light and, during ground testing, the IRIS team used these sensors to measure the variance of a flat field as a function of its intensity for both blue light, here in the upper right, and ultraviolet light at 135 nm, in the lower right.</a:t>
            </a:r>
          </a:p>
          <a:p>
            <a:r>
              <a:rPr lang="en-US" dirty="0"/>
              <a:t>These plots are known as photon transfer curves and they are a direct measurement of the noise intrinsic to an imaging system.</a:t>
            </a:r>
          </a:p>
          <a:p>
            <a:r>
              <a:rPr lang="en-US" dirty="0"/>
              <a:t>The slope of a photon transfer curve is the gain, and from theoretical considerations, the IRIS team expected that the gain in blue would be twice as large as the gain in ultraviolet, but these curves show it being only about 1.5 times greater.</a:t>
            </a:r>
          </a:p>
          <a:p>
            <a:r>
              <a:rPr lang="en-US" dirty="0"/>
              <a:t>This is actually good news, since it implies that the signal-to-noise ratio of IRIS is better than predicted by about 25%, but it is also slightly problematic since we don’t understand why.</a:t>
            </a:r>
          </a:p>
        </p:txBody>
      </p:sp>
      <p:sp>
        <p:nvSpPr>
          <p:cNvPr id="4" name="Slide Number Placeholder 3"/>
          <p:cNvSpPr>
            <a:spLocks noGrp="1"/>
          </p:cNvSpPr>
          <p:nvPr>
            <p:ph type="sldNum" sz="quarter" idx="5"/>
          </p:nvPr>
        </p:nvSpPr>
        <p:spPr/>
        <p:txBody>
          <a:bodyPr/>
          <a:lstStyle/>
          <a:p>
            <a:fld id="{855E419C-FC17-4E55-8423-7E8B989299E6}" type="slidenum">
              <a:rPr lang="en-US" smtClean="0"/>
              <a:t>2</a:t>
            </a:fld>
            <a:endParaRPr lang="en-US"/>
          </a:p>
        </p:txBody>
      </p:sp>
    </p:spTree>
    <p:extLst>
      <p:ext uri="{BB962C8B-B14F-4D97-AF65-F5344CB8AC3E}">
        <p14:creationId xmlns:p14="http://schemas.microsoft.com/office/powerpoint/2010/main" val="37364958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problem isn’t unique to IRIS either, the Wide Field Camera 3, or WFC3 on the Hubble Space Telescope, which uses very similar CCDs to IRIS, also experiences this issue.</a:t>
            </a:r>
          </a:p>
          <a:p>
            <a:r>
              <a:rPr lang="en-US" dirty="0"/>
              <a:t>Plotted on the right in blue, purple, and red is WFC3 team’s measurement of the same gain ratio I was discussing on the previous slide.</a:t>
            </a:r>
          </a:p>
          <a:p>
            <a:r>
              <a:rPr lang="en-US" dirty="0"/>
              <a:t>In this case, they expected the gain ratio to be about 1.7 at 200 nm, but they measured it to be only 1.1.</a:t>
            </a:r>
          </a:p>
          <a:p>
            <a:r>
              <a:rPr lang="en-US" dirty="0"/>
              <a:t>This discrepancy corresponds to an SNR improvement of about 25% compared to theoretical expectations, which is the same improvement observed with IRIS.</a:t>
            </a:r>
          </a:p>
          <a:p>
            <a:r>
              <a:rPr lang="en-US" dirty="0"/>
              <a:t>The goal of this presentation is to develop a simple model which can explain these discrepancies observed by the IRIS and WFC3 teams.</a:t>
            </a:r>
          </a:p>
        </p:txBody>
      </p:sp>
      <p:sp>
        <p:nvSpPr>
          <p:cNvPr id="4" name="Slide Number Placeholder 3"/>
          <p:cNvSpPr>
            <a:spLocks noGrp="1"/>
          </p:cNvSpPr>
          <p:nvPr>
            <p:ph type="sldNum" sz="quarter" idx="5"/>
          </p:nvPr>
        </p:nvSpPr>
        <p:spPr/>
        <p:txBody>
          <a:bodyPr/>
          <a:lstStyle/>
          <a:p>
            <a:fld id="{855E419C-FC17-4E55-8423-7E8B989299E6}" type="slidenum">
              <a:rPr lang="en-US" smtClean="0"/>
              <a:t>3</a:t>
            </a:fld>
            <a:endParaRPr lang="en-US"/>
          </a:p>
        </p:txBody>
      </p:sp>
    </p:spTree>
    <p:extLst>
      <p:ext uri="{BB962C8B-B14F-4D97-AF65-F5344CB8AC3E}">
        <p14:creationId xmlns:p14="http://schemas.microsoft.com/office/powerpoint/2010/main" val="36055109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here’s an outline of how we’ll do it.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We’ll start by developing a model of the signal measured by back-illuminated silicon sensors that has three factors: absorbance, quantum yield, and charge-collection efficiency.</a:t>
            </a:r>
          </a:p>
          <a:p>
            <a:r>
              <a:rPr lang="en-US" dirty="0"/>
              <a:t>Next, we’ll discuss two noise models, a simple noise model which considers only shot noise and an improved noise model which considers shot noise, Fano noise, and noise due to partial charge collection.</a:t>
            </a:r>
          </a:p>
          <a:p>
            <a:r>
              <a:rPr lang="en-US" dirty="0"/>
              <a:t>Additionally, we’ll investigate the role of charge spreading to see if it can explain the observed discrepancy.</a:t>
            </a:r>
          </a:p>
          <a:p>
            <a:r>
              <a:rPr lang="en-US" dirty="0"/>
              <a:t>Finally, we’ll use our model to predict the noise measured by IRIS and WFC3, as well as use it to make predictions about the noise measured by other ultraviolet astronomical observatories.</a:t>
            </a:r>
          </a:p>
        </p:txBody>
      </p:sp>
      <p:sp>
        <p:nvSpPr>
          <p:cNvPr id="4" name="Slide Number Placeholder 3"/>
          <p:cNvSpPr>
            <a:spLocks noGrp="1"/>
          </p:cNvSpPr>
          <p:nvPr>
            <p:ph type="sldNum" sz="quarter" idx="5"/>
          </p:nvPr>
        </p:nvSpPr>
        <p:spPr/>
        <p:txBody>
          <a:bodyPr/>
          <a:lstStyle/>
          <a:p>
            <a:fld id="{855E419C-FC17-4E55-8423-7E8B989299E6}" type="slidenum">
              <a:rPr lang="en-US" smtClean="0"/>
              <a:t>4</a:t>
            </a:fld>
            <a:endParaRPr lang="en-US"/>
          </a:p>
        </p:txBody>
      </p:sp>
    </p:spTree>
    <p:extLst>
      <p:ext uri="{BB962C8B-B14F-4D97-AF65-F5344CB8AC3E}">
        <p14:creationId xmlns:p14="http://schemas.microsoft.com/office/powerpoint/2010/main" val="14053430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Alright, so the signal measured by silicon sensors is well-studied.</a:t>
            </a:r>
          </a:p>
          <a:p>
            <a:r>
              <a:rPr lang="en-US" dirty="0"/>
              <a:t>In this presentation we’ll use a model introduced by Stern et al. (1994), but adapted to recent measurements.</a:t>
            </a:r>
          </a:p>
        </p:txBody>
      </p:sp>
      <p:sp>
        <p:nvSpPr>
          <p:cNvPr id="4" name="Slide Number Placeholder 3"/>
          <p:cNvSpPr>
            <a:spLocks noGrp="1"/>
          </p:cNvSpPr>
          <p:nvPr>
            <p:ph type="sldNum" sz="quarter" idx="5"/>
          </p:nvPr>
        </p:nvSpPr>
        <p:spPr/>
        <p:txBody>
          <a:bodyPr/>
          <a:lstStyle/>
          <a:p>
            <a:fld id="{855E419C-FC17-4E55-8423-7E8B989299E6}" type="slidenum">
              <a:rPr lang="en-US" smtClean="0"/>
              <a:t>5</a:t>
            </a:fld>
            <a:endParaRPr lang="en-US"/>
          </a:p>
        </p:txBody>
      </p:sp>
    </p:spTree>
    <p:extLst>
      <p:ext uri="{BB962C8B-B14F-4D97-AF65-F5344CB8AC3E}">
        <p14:creationId xmlns:p14="http://schemas.microsoft.com/office/powerpoint/2010/main" val="16740161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schematic showing the geometry of our sensor model.</a:t>
            </a:r>
          </a:p>
          <a:p>
            <a:r>
              <a:rPr lang="en-US" dirty="0"/>
              <a:t>We will consider the light-sensitive layer to be a 16-um-thick slab of silicon coated in a thin layer of silicon dioxide.</a:t>
            </a:r>
          </a:p>
          <a:p>
            <a:r>
              <a:rPr lang="en-US" dirty="0"/>
              <a:t>The light sensitive layer consists of three parts: the partial charge collection region, the field free region, and the depletion region, which will be explained in later slides.</a:t>
            </a:r>
          </a:p>
          <a:p>
            <a:r>
              <a:rPr lang="en-US" dirty="0"/>
              <a:t>We will consider most of these thicknesses to be free parameters which will be fit to measurements we’ll show later.</a:t>
            </a:r>
          </a:p>
        </p:txBody>
      </p:sp>
      <p:sp>
        <p:nvSpPr>
          <p:cNvPr id="4" name="Slide Number Placeholder 3"/>
          <p:cNvSpPr>
            <a:spLocks noGrp="1"/>
          </p:cNvSpPr>
          <p:nvPr>
            <p:ph type="sldNum" sz="quarter" idx="5"/>
          </p:nvPr>
        </p:nvSpPr>
        <p:spPr/>
        <p:txBody>
          <a:bodyPr/>
          <a:lstStyle/>
          <a:p>
            <a:fld id="{855E419C-FC17-4E55-8423-7E8B989299E6}" type="slidenum">
              <a:rPr lang="en-US" smtClean="0"/>
              <a:t>6</a:t>
            </a:fld>
            <a:endParaRPr lang="en-US"/>
          </a:p>
        </p:txBody>
      </p:sp>
    </p:spTree>
    <p:extLst>
      <p:ext uri="{BB962C8B-B14F-4D97-AF65-F5344CB8AC3E}">
        <p14:creationId xmlns:p14="http://schemas.microsoft.com/office/powerpoint/2010/main" val="17818329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07A766-AA9C-4E9D-4A1A-EE14F94772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0C4371-EF24-70AA-C1AF-107B0B81534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7F98C2-EB4A-6D80-B861-DE890B39036F}"/>
              </a:ext>
            </a:extLst>
          </p:cNvPr>
          <p:cNvSpPr>
            <a:spLocks noGrp="1"/>
          </p:cNvSpPr>
          <p:nvPr>
            <p:ph type="body" idx="1"/>
          </p:nvPr>
        </p:nvSpPr>
        <p:spPr/>
        <p:txBody>
          <a:bodyPr/>
          <a:lstStyle/>
          <a:p>
            <a:r>
              <a:rPr lang="en-US" dirty="0"/>
              <a:t>The first factor we will consider in our signal model is the absorbance of the light-sensitive layer.</a:t>
            </a:r>
          </a:p>
          <a:p>
            <a:r>
              <a:rPr lang="en-US" dirty="0"/>
              <a:t>This is the fraction of incident energy absorbed by the silicon, and it is reduced by reflections from each interface, absorption in the oxide layer, or by penetrating all the way through the sensor.</a:t>
            </a:r>
          </a:p>
          <a:p>
            <a:r>
              <a:rPr lang="en-US" dirty="0"/>
              <a:t>For this work we computed the absorbance using the standard optical constants and the theory of thin films.</a:t>
            </a:r>
          </a:p>
          <a:p>
            <a:r>
              <a:rPr lang="en-US" dirty="0"/>
              <a:t>Here on the right is a plot of the absorbance we used.</a:t>
            </a:r>
          </a:p>
          <a:p>
            <a:r>
              <a:rPr lang="en-US" dirty="0"/>
              <a:t>Notice that it is relatively low in the ultraviolet due to absorption by the oxide layer. </a:t>
            </a:r>
          </a:p>
        </p:txBody>
      </p:sp>
      <p:sp>
        <p:nvSpPr>
          <p:cNvPr id="4" name="Slide Number Placeholder 3">
            <a:extLst>
              <a:ext uri="{FF2B5EF4-FFF2-40B4-BE49-F238E27FC236}">
                <a16:creationId xmlns:a16="http://schemas.microsoft.com/office/drawing/2014/main" id="{31438919-BEBF-5A8E-653D-19FF2C22C022}"/>
              </a:ext>
            </a:extLst>
          </p:cNvPr>
          <p:cNvSpPr>
            <a:spLocks noGrp="1"/>
          </p:cNvSpPr>
          <p:nvPr>
            <p:ph type="sldNum" sz="quarter" idx="5"/>
          </p:nvPr>
        </p:nvSpPr>
        <p:spPr/>
        <p:txBody>
          <a:bodyPr/>
          <a:lstStyle/>
          <a:p>
            <a:fld id="{855E419C-FC17-4E55-8423-7E8B989299E6}" type="slidenum">
              <a:rPr lang="en-US" smtClean="0"/>
              <a:t>7</a:t>
            </a:fld>
            <a:endParaRPr lang="en-US"/>
          </a:p>
        </p:txBody>
      </p:sp>
    </p:spTree>
    <p:extLst>
      <p:ext uri="{BB962C8B-B14F-4D97-AF65-F5344CB8AC3E}">
        <p14:creationId xmlns:p14="http://schemas.microsoft.com/office/powerpoint/2010/main" val="39441166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next factor in our signal model is the quantum yield, or the number of electron-hole pairs generated per absorbed photon due to the photoelectric effect.</a:t>
            </a:r>
          </a:p>
          <a:p>
            <a:r>
              <a:rPr lang="en-US" dirty="0"/>
              <a:t>The quantum yield increases as the energy of the photon increases, and at high energies the quantum yield is approximately equal to the energy of the photon divided by 3.65eV.</a:t>
            </a:r>
          </a:p>
          <a:p>
            <a:r>
              <a:rPr lang="en-US" dirty="0"/>
              <a:t>For this work, we’ll use the Ramanathan &amp; Kurinsky (2020) quantum yield model which is a tabulated model that is more accurate for low-energy photons</a:t>
            </a:r>
          </a:p>
        </p:txBody>
      </p:sp>
      <p:sp>
        <p:nvSpPr>
          <p:cNvPr id="4" name="Slide Number Placeholder 3"/>
          <p:cNvSpPr>
            <a:spLocks noGrp="1"/>
          </p:cNvSpPr>
          <p:nvPr>
            <p:ph type="sldNum" sz="quarter" idx="5"/>
          </p:nvPr>
        </p:nvSpPr>
        <p:spPr/>
        <p:txBody>
          <a:bodyPr/>
          <a:lstStyle/>
          <a:p>
            <a:fld id="{855E419C-FC17-4E55-8423-7E8B989299E6}" type="slidenum">
              <a:rPr lang="en-US" smtClean="0"/>
              <a:t>8</a:t>
            </a:fld>
            <a:endParaRPr lang="en-US"/>
          </a:p>
        </p:txBody>
      </p:sp>
    </p:spTree>
    <p:extLst>
      <p:ext uri="{BB962C8B-B14F-4D97-AF65-F5344CB8AC3E}">
        <p14:creationId xmlns:p14="http://schemas.microsoft.com/office/powerpoint/2010/main" val="37519965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thing to consider for our signal model is that the back-thinning process used to manufacture these sensors damages the silicon crystal lattice and creates dangling bonds that cause the electron-hole pairs to recombine before they can be measured.</a:t>
            </a:r>
          </a:p>
          <a:p>
            <a:r>
              <a:rPr lang="en-US" dirty="0"/>
              <a:t>This phenomenon is known as partial charge collection, or PCC, and it can be the dominant factor in the signal model.</a:t>
            </a:r>
          </a:p>
          <a:p>
            <a:r>
              <a:rPr lang="en-US" dirty="0"/>
              <a:t>Partial charge collection is quantified using the charge-collection efficiency, or CCE, the fraction of charges that survived to be measured by the sensor.</a:t>
            </a:r>
          </a:p>
          <a:p>
            <a:r>
              <a:rPr lang="en-US" dirty="0"/>
              <a:t>In this work, we’ll model the CCE using a piecewise-linear function of depth, denoted eta z, that increases linearly from some minimum value to 1 over the extent of the PCC region and then remains at 1 through the rest of the sensor.</a:t>
            </a:r>
          </a:p>
        </p:txBody>
      </p:sp>
      <p:sp>
        <p:nvSpPr>
          <p:cNvPr id="4" name="Slide Number Placeholder 3"/>
          <p:cNvSpPr>
            <a:spLocks noGrp="1"/>
          </p:cNvSpPr>
          <p:nvPr>
            <p:ph type="sldNum" sz="quarter" idx="5"/>
          </p:nvPr>
        </p:nvSpPr>
        <p:spPr/>
        <p:txBody>
          <a:bodyPr/>
          <a:lstStyle/>
          <a:p>
            <a:fld id="{855E419C-FC17-4E55-8423-7E8B989299E6}" type="slidenum">
              <a:rPr lang="en-US" smtClean="0"/>
              <a:t>9</a:t>
            </a:fld>
            <a:endParaRPr lang="en-US"/>
          </a:p>
        </p:txBody>
      </p:sp>
    </p:spTree>
    <p:extLst>
      <p:ext uri="{BB962C8B-B14F-4D97-AF65-F5344CB8AC3E}">
        <p14:creationId xmlns:p14="http://schemas.microsoft.com/office/powerpoint/2010/main" val="377296248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2731EC-F1EF-6786-04D5-A069FE9C6B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B7B7E0-4BBB-F113-542E-AA583A9691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B12573-0D65-9DCD-D853-9FF04336D2EE}"/>
              </a:ext>
            </a:extLst>
          </p:cNvPr>
          <p:cNvSpPr>
            <a:spLocks noGrp="1"/>
          </p:cNvSpPr>
          <p:nvPr>
            <p:ph type="body" idx="1"/>
          </p:nvPr>
        </p:nvSpPr>
        <p:spPr/>
        <p:txBody>
          <a:bodyPr/>
          <a:lstStyle/>
          <a:p>
            <a:r>
              <a:rPr lang="en-US" dirty="0"/>
              <a:t>We can integrate this depth-dependent CCE against the Beer-Lambert law to find the last factor in our signal model: the average charge collection efficiency.</a:t>
            </a:r>
          </a:p>
          <a:p>
            <a:r>
              <a:rPr lang="en-US" dirty="0"/>
              <a:t>This is the average fraction of electrons that did not recombine and were measured by the sensor.</a:t>
            </a:r>
          </a:p>
          <a:p>
            <a:endParaRPr lang="en-US" dirty="0"/>
          </a:p>
        </p:txBody>
      </p:sp>
      <p:sp>
        <p:nvSpPr>
          <p:cNvPr id="4" name="Slide Number Placeholder 3">
            <a:extLst>
              <a:ext uri="{FF2B5EF4-FFF2-40B4-BE49-F238E27FC236}">
                <a16:creationId xmlns:a16="http://schemas.microsoft.com/office/drawing/2014/main" id="{761B71F1-E419-CAAF-44A8-217DC0B58D81}"/>
              </a:ext>
            </a:extLst>
          </p:cNvPr>
          <p:cNvSpPr>
            <a:spLocks noGrp="1"/>
          </p:cNvSpPr>
          <p:nvPr>
            <p:ph type="sldNum" sz="quarter" idx="5"/>
          </p:nvPr>
        </p:nvSpPr>
        <p:spPr/>
        <p:txBody>
          <a:bodyPr/>
          <a:lstStyle/>
          <a:p>
            <a:fld id="{855E419C-FC17-4E55-8423-7E8B989299E6}" type="slidenum">
              <a:rPr lang="en-US" smtClean="0"/>
              <a:t>10</a:t>
            </a:fld>
            <a:endParaRPr lang="en-US"/>
          </a:p>
        </p:txBody>
      </p:sp>
    </p:spTree>
    <p:extLst>
      <p:ext uri="{BB962C8B-B14F-4D97-AF65-F5344CB8AC3E}">
        <p14:creationId xmlns:p14="http://schemas.microsoft.com/office/powerpoint/2010/main" val="80761630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can put all this together to find the quantum efficiency, or QE, the average number of electrons measured per incident photon. </a:t>
            </a:r>
          </a:p>
          <a:p>
            <a:r>
              <a:rPr lang="en-US" dirty="0"/>
              <a:t>The QE is equal to the product of the absorbance, quantum yield, and CCE and it is a common metric of sensor performance.</a:t>
            </a:r>
          </a:p>
          <a:p>
            <a:r>
              <a:rPr lang="en-US" dirty="0"/>
              <a:t>Despite its name, the quantum efficiency is allowed to be larger than 1 since the quantum yield is unbounded.</a:t>
            </a:r>
          </a:p>
        </p:txBody>
      </p:sp>
      <p:sp>
        <p:nvSpPr>
          <p:cNvPr id="4" name="Slide Number Placeholder 3"/>
          <p:cNvSpPr>
            <a:spLocks noGrp="1"/>
          </p:cNvSpPr>
          <p:nvPr>
            <p:ph type="sldNum" sz="quarter" idx="5"/>
          </p:nvPr>
        </p:nvSpPr>
        <p:spPr/>
        <p:txBody>
          <a:bodyPr/>
          <a:lstStyle/>
          <a:p>
            <a:fld id="{855E419C-FC17-4E55-8423-7E8B989299E6}" type="slidenum">
              <a:rPr lang="en-US" smtClean="0"/>
              <a:t>11</a:t>
            </a:fld>
            <a:endParaRPr lang="en-US"/>
          </a:p>
        </p:txBody>
      </p:sp>
    </p:spTree>
    <p:extLst>
      <p:ext uri="{BB962C8B-B14F-4D97-AF65-F5344CB8AC3E}">
        <p14:creationId xmlns:p14="http://schemas.microsoft.com/office/powerpoint/2010/main" val="184533479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of this, we often use another quantity known as the effective quantum efficiency, or EQE, which ignores the quantum yield and is just the product of the absorbance and the CCE.</a:t>
            </a:r>
          </a:p>
          <a:p>
            <a:r>
              <a:rPr lang="en-US" dirty="0"/>
              <a:t>This quantity is guaranteed to be between 0 and 1, and this is what’s usually measured when calibrating a sensor.</a:t>
            </a:r>
          </a:p>
          <a:p>
            <a:r>
              <a:rPr lang="en-US" dirty="0"/>
              <a:t>In this work, we fit our model to EQE measurements to constrain the free parameters we discussed previously.</a:t>
            </a:r>
          </a:p>
        </p:txBody>
      </p:sp>
      <p:sp>
        <p:nvSpPr>
          <p:cNvPr id="4" name="Slide Number Placeholder 3"/>
          <p:cNvSpPr>
            <a:spLocks noGrp="1"/>
          </p:cNvSpPr>
          <p:nvPr>
            <p:ph type="sldNum" sz="quarter" idx="5"/>
          </p:nvPr>
        </p:nvSpPr>
        <p:spPr/>
        <p:txBody>
          <a:bodyPr/>
          <a:lstStyle/>
          <a:p>
            <a:fld id="{855E419C-FC17-4E55-8423-7E8B989299E6}" type="slidenum">
              <a:rPr lang="en-US" smtClean="0"/>
              <a:t>12</a:t>
            </a:fld>
            <a:endParaRPr lang="en-US"/>
          </a:p>
        </p:txBody>
      </p:sp>
    </p:spTree>
    <p:extLst>
      <p:ext uri="{BB962C8B-B14F-4D97-AF65-F5344CB8AC3E}">
        <p14:creationId xmlns:p14="http://schemas.microsoft.com/office/powerpoint/2010/main" val="103124291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Ok, with the signal model in place we’re now ready to discuss our noise model.</a:t>
            </a:r>
          </a:p>
        </p:txBody>
      </p:sp>
      <p:sp>
        <p:nvSpPr>
          <p:cNvPr id="4" name="Slide Number Placeholder 3"/>
          <p:cNvSpPr>
            <a:spLocks noGrp="1"/>
          </p:cNvSpPr>
          <p:nvPr>
            <p:ph type="sldNum" sz="quarter" idx="5"/>
          </p:nvPr>
        </p:nvSpPr>
        <p:spPr/>
        <p:txBody>
          <a:bodyPr/>
          <a:lstStyle/>
          <a:p>
            <a:fld id="{855E419C-FC17-4E55-8423-7E8B989299E6}" type="slidenum">
              <a:rPr lang="en-US" smtClean="0"/>
              <a:t>13</a:t>
            </a:fld>
            <a:endParaRPr lang="en-US"/>
          </a:p>
        </p:txBody>
      </p:sp>
    </p:spTree>
    <p:extLst>
      <p:ext uri="{BB962C8B-B14F-4D97-AF65-F5344CB8AC3E}">
        <p14:creationId xmlns:p14="http://schemas.microsoft.com/office/powerpoint/2010/main" val="255701713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But before we do, we need to introduce the variance-to-mean ratio, or VMR, which is the ratio of the variance of some random variable to its mean.</a:t>
            </a:r>
          </a:p>
          <a:p>
            <a:r>
              <a:rPr lang="en-US" dirty="0"/>
              <a:t>We will find that measuring the noise using the VMR is more convenient than the SNR since it’s constant as a function of signal for the distributions we’ll discuss here.</a:t>
            </a:r>
          </a:p>
          <a:p>
            <a:r>
              <a:rPr lang="en-US" dirty="0"/>
              <a:t>For example, the VMR of a Poisson-distributed random variable is 1 since its variance and mean are equal.</a:t>
            </a:r>
          </a:p>
          <a:p>
            <a:r>
              <a:rPr lang="en-US" dirty="0"/>
              <a:t>The VMR is also equivalent the slope of the photon transfer curve we were discussing earlier, so expressing the noise in this way will be helpful when comparing our predictions to IRIS and WFC3.</a:t>
            </a:r>
          </a:p>
        </p:txBody>
      </p:sp>
      <p:sp>
        <p:nvSpPr>
          <p:cNvPr id="4" name="Slide Number Placeholder 3"/>
          <p:cNvSpPr>
            <a:spLocks noGrp="1"/>
          </p:cNvSpPr>
          <p:nvPr>
            <p:ph type="sldNum" sz="quarter" idx="5"/>
          </p:nvPr>
        </p:nvSpPr>
        <p:spPr/>
        <p:txBody>
          <a:bodyPr/>
          <a:lstStyle/>
          <a:p>
            <a:fld id="{855E419C-FC17-4E55-8423-7E8B989299E6}" type="slidenum">
              <a:rPr lang="en-US" smtClean="0"/>
              <a:t>14</a:t>
            </a:fld>
            <a:endParaRPr lang="en-US"/>
          </a:p>
        </p:txBody>
      </p:sp>
    </p:spTree>
    <p:extLst>
      <p:ext uri="{BB962C8B-B14F-4D97-AF65-F5344CB8AC3E}">
        <p14:creationId xmlns:p14="http://schemas.microsoft.com/office/powerpoint/2010/main" val="266256424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Ok, the first noise model we’ll discuss is the model used by the IRIS and WFC3 teams.</a:t>
            </a:r>
          </a:p>
          <a:p>
            <a:r>
              <a:rPr lang="en-US" dirty="0"/>
              <a:t>We’ll call this the simple model, since we’ll be improving this model in later slides.</a:t>
            </a:r>
          </a:p>
          <a:p>
            <a:r>
              <a:rPr lang="en-US" dirty="0"/>
              <a:t>In this model, the expected number of measured photons is proportional to the effective quantum efficiency.</a:t>
            </a:r>
          </a:p>
          <a:p>
            <a:r>
              <a:rPr lang="en-US" dirty="0"/>
              <a:t>This is equivalent to an all-or-nothing charge collection model, where either all the electrons are measured or none of them are.</a:t>
            </a:r>
          </a:p>
          <a:p>
            <a:r>
              <a:rPr lang="en-US" dirty="0"/>
              <a:t>Since these photons are Poisson-distributed, the VMR of the measured photons is 1 as promised, but this is internal to the sensor.</a:t>
            </a:r>
          </a:p>
          <a:p>
            <a:r>
              <a:rPr lang="en-US" dirty="0"/>
              <a:t>The VMR of this noise in terms of the incident photons ends up being 1 divided by the EQE, which is plotted here on the right.</a:t>
            </a:r>
          </a:p>
          <a:p>
            <a:r>
              <a:rPr lang="en-US" dirty="0"/>
              <a:t>Expressing the noise in this way is helpful since it tells us how much noise to expect for a given number of incident photons.</a:t>
            </a:r>
          </a:p>
        </p:txBody>
      </p:sp>
      <p:sp>
        <p:nvSpPr>
          <p:cNvPr id="4" name="Slide Number Placeholder 3"/>
          <p:cNvSpPr>
            <a:spLocks noGrp="1"/>
          </p:cNvSpPr>
          <p:nvPr>
            <p:ph type="sldNum" sz="quarter" idx="5"/>
          </p:nvPr>
        </p:nvSpPr>
        <p:spPr/>
        <p:txBody>
          <a:bodyPr/>
          <a:lstStyle/>
          <a:p>
            <a:fld id="{855E419C-FC17-4E55-8423-7E8B989299E6}" type="slidenum">
              <a:rPr lang="en-US" smtClean="0"/>
              <a:t>15</a:t>
            </a:fld>
            <a:endParaRPr lang="en-US"/>
          </a:p>
        </p:txBody>
      </p:sp>
    </p:spTree>
    <p:extLst>
      <p:ext uri="{BB962C8B-B14F-4D97-AF65-F5344CB8AC3E}">
        <p14:creationId xmlns:p14="http://schemas.microsoft.com/office/powerpoint/2010/main" val="373661392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to fix the discrepancies that the IRIS and WFC3 teams observed with the simple model, we propose an improved model that considers two additional sources on top of the shot noise: Fano noise and PCC noise.</a:t>
            </a:r>
          </a:p>
          <a:p>
            <a:r>
              <a:rPr lang="en-US" dirty="0"/>
              <a:t>Fano noise is due to the inherent uncertainty in the charge generation process and it is a well known-effect that has been studied extensively.</a:t>
            </a:r>
          </a:p>
          <a:p>
            <a:r>
              <a:rPr lang="en-US" dirty="0"/>
              <a:t>As we will see, including Fano noise does not explain the discrepancy observed by IRIS and WFC3 since it can only increase the noise, but we will include it so that our model is as accurate as possible.</a:t>
            </a:r>
          </a:p>
          <a:p>
            <a:r>
              <a:rPr lang="en-US" dirty="0"/>
              <a:t>PCC noise is a relatively less-studied noise source which is due to variance in the charge collection efficiency.</a:t>
            </a:r>
          </a:p>
          <a:p>
            <a:r>
              <a:rPr lang="en-US" dirty="0"/>
              <a:t>In this work, we propose that PCC noise might explain the discrepancy observed by IRIS and WFC3.</a:t>
            </a:r>
          </a:p>
        </p:txBody>
      </p:sp>
      <p:sp>
        <p:nvSpPr>
          <p:cNvPr id="4" name="Slide Number Placeholder 3"/>
          <p:cNvSpPr>
            <a:spLocks noGrp="1"/>
          </p:cNvSpPr>
          <p:nvPr>
            <p:ph type="sldNum" sz="quarter" idx="5"/>
          </p:nvPr>
        </p:nvSpPr>
        <p:spPr/>
        <p:txBody>
          <a:bodyPr/>
          <a:lstStyle/>
          <a:p>
            <a:fld id="{855E419C-FC17-4E55-8423-7E8B989299E6}" type="slidenum">
              <a:rPr lang="en-US" smtClean="0"/>
              <a:t>16</a:t>
            </a:fld>
            <a:endParaRPr lang="en-US"/>
          </a:p>
        </p:txBody>
      </p:sp>
    </p:spTree>
    <p:extLst>
      <p:ext uri="{BB962C8B-B14F-4D97-AF65-F5344CB8AC3E}">
        <p14:creationId xmlns:p14="http://schemas.microsoft.com/office/powerpoint/2010/main" val="389648591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term in our noise model is the shot noise and it is proportional to the number of photons absorbed by the light sensitive layer.</a:t>
            </a:r>
          </a:p>
          <a:p>
            <a:r>
              <a:rPr lang="en-US" dirty="0"/>
              <a:t>Again, the internal VMR of this process is 1 since it’s a Poisson distribution, but in terms of the external, incident photons the VMR is 1 on the absorbance, which is plotted here in blue.</a:t>
            </a:r>
          </a:p>
          <a:p>
            <a:r>
              <a:rPr lang="en-US" dirty="0"/>
              <a:t>We can see that this noise source is much smaller than the simple model since we have not considered PCC yet.</a:t>
            </a:r>
          </a:p>
        </p:txBody>
      </p:sp>
      <p:sp>
        <p:nvSpPr>
          <p:cNvPr id="4" name="Slide Number Placeholder 3"/>
          <p:cNvSpPr>
            <a:spLocks noGrp="1"/>
          </p:cNvSpPr>
          <p:nvPr>
            <p:ph type="sldNum" sz="quarter" idx="5"/>
          </p:nvPr>
        </p:nvSpPr>
        <p:spPr/>
        <p:txBody>
          <a:bodyPr/>
          <a:lstStyle/>
          <a:p>
            <a:fld id="{855E419C-FC17-4E55-8423-7E8B989299E6}" type="slidenum">
              <a:rPr lang="en-US" smtClean="0"/>
              <a:t>17</a:t>
            </a:fld>
            <a:endParaRPr lang="en-US"/>
          </a:p>
        </p:txBody>
      </p:sp>
    </p:spTree>
    <p:extLst>
      <p:ext uri="{BB962C8B-B14F-4D97-AF65-F5344CB8AC3E}">
        <p14:creationId xmlns:p14="http://schemas.microsoft.com/office/powerpoint/2010/main" val="388056547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next term in our noise model is the Fano noise, which is the uncertainty in the quantum yield.</a:t>
            </a:r>
          </a:p>
          <a:p>
            <a:r>
              <a:rPr lang="en-US" dirty="0"/>
              <a:t>The Fano noise is characterized by a Fano factor, which is the VMR of the quantum yield, and it is commonly accepted to have a value of about 0.1.</a:t>
            </a:r>
          </a:p>
          <a:p>
            <a:r>
              <a:rPr lang="en-US" dirty="0"/>
              <a:t>As we mentioned before, this work uses the Ramanathan and Kurinsky quantum yield model which we used to estimate the Fano factor over our entire wavelength range.</a:t>
            </a:r>
          </a:p>
          <a:p>
            <a:r>
              <a:rPr lang="en-US" dirty="0"/>
              <a:t>We’ve plotted the Fano noise here in green and we can see that it’s very small compared to the shot noise.</a:t>
            </a:r>
          </a:p>
        </p:txBody>
      </p:sp>
      <p:sp>
        <p:nvSpPr>
          <p:cNvPr id="4" name="Slide Number Placeholder 3"/>
          <p:cNvSpPr>
            <a:spLocks noGrp="1"/>
          </p:cNvSpPr>
          <p:nvPr>
            <p:ph type="sldNum" sz="quarter" idx="5"/>
          </p:nvPr>
        </p:nvSpPr>
        <p:spPr/>
        <p:txBody>
          <a:bodyPr/>
          <a:lstStyle/>
          <a:p>
            <a:fld id="{855E419C-FC17-4E55-8423-7E8B989299E6}" type="slidenum">
              <a:rPr lang="en-US" smtClean="0"/>
              <a:t>18</a:t>
            </a:fld>
            <a:endParaRPr lang="en-US"/>
          </a:p>
        </p:txBody>
      </p:sp>
    </p:spTree>
    <p:extLst>
      <p:ext uri="{BB962C8B-B14F-4D97-AF65-F5344CB8AC3E}">
        <p14:creationId xmlns:p14="http://schemas.microsoft.com/office/powerpoint/2010/main" val="253516340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final term in our noise model is the PCC noise, which is due to the depth dependence of the charge-collection efficiency.</a:t>
            </a:r>
          </a:p>
          <a:p>
            <a:r>
              <a:rPr lang="en-US" dirty="0"/>
              <a:t>We consider the uncertainty in the CCE as a new noise source which has significant effects on the total noise.</a:t>
            </a:r>
          </a:p>
          <a:p>
            <a:r>
              <a:rPr lang="en-US" dirty="0"/>
              <a:t>We will model this noise as an independent binary choice on each electron, where the probability of measurement is determined by the CCE at that depth.</a:t>
            </a:r>
          </a:p>
          <a:p>
            <a:r>
              <a:rPr lang="en-US" dirty="0"/>
              <a:t>We’ve plotted the VMR of this process in orange, and we can see that it is the dominant noise source in the near ultraviolet.</a:t>
            </a:r>
          </a:p>
        </p:txBody>
      </p:sp>
      <p:sp>
        <p:nvSpPr>
          <p:cNvPr id="4" name="Slide Number Placeholder 3"/>
          <p:cNvSpPr>
            <a:spLocks noGrp="1"/>
          </p:cNvSpPr>
          <p:nvPr>
            <p:ph type="sldNum" sz="quarter" idx="5"/>
          </p:nvPr>
        </p:nvSpPr>
        <p:spPr/>
        <p:txBody>
          <a:bodyPr/>
          <a:lstStyle/>
          <a:p>
            <a:fld id="{855E419C-FC17-4E55-8423-7E8B989299E6}" type="slidenum">
              <a:rPr lang="en-US" smtClean="0"/>
              <a:t>19</a:t>
            </a:fld>
            <a:endParaRPr lang="en-US"/>
          </a:p>
        </p:txBody>
      </p:sp>
    </p:spTree>
    <p:extLst>
      <p:ext uri="{BB962C8B-B14F-4D97-AF65-F5344CB8AC3E}">
        <p14:creationId xmlns:p14="http://schemas.microsoft.com/office/powerpoint/2010/main" val="362257622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understand this better, here is a plot of the silicon penetration depth, in green, compared to the thickness of the PCC region, shown as a dashed line.</a:t>
            </a:r>
          </a:p>
          <a:p>
            <a:r>
              <a:rPr lang="en-US" dirty="0"/>
              <a:t>The PCC region is very thin, only about 100 nm, and yet there are two bands in the ultraviolet where the penetration depth is less than the thickness of the PCC region.</a:t>
            </a:r>
          </a:p>
          <a:p>
            <a:r>
              <a:rPr lang="en-US" dirty="0"/>
              <a:t>In these bands, considering PCC noise is important since recombination is probable in these regions.</a:t>
            </a:r>
          </a:p>
        </p:txBody>
      </p:sp>
      <p:sp>
        <p:nvSpPr>
          <p:cNvPr id="4" name="Slide Number Placeholder 3"/>
          <p:cNvSpPr>
            <a:spLocks noGrp="1"/>
          </p:cNvSpPr>
          <p:nvPr>
            <p:ph type="sldNum" sz="quarter" idx="5"/>
          </p:nvPr>
        </p:nvSpPr>
        <p:spPr/>
        <p:txBody>
          <a:bodyPr/>
          <a:lstStyle/>
          <a:p>
            <a:fld id="{855E419C-FC17-4E55-8423-7E8B989299E6}" type="slidenum">
              <a:rPr lang="en-US" smtClean="0"/>
              <a:t>20</a:t>
            </a:fld>
            <a:endParaRPr lang="en-US"/>
          </a:p>
        </p:txBody>
      </p:sp>
    </p:spTree>
    <p:extLst>
      <p:ext uri="{BB962C8B-B14F-4D97-AF65-F5344CB8AC3E}">
        <p14:creationId xmlns:p14="http://schemas.microsoft.com/office/powerpoint/2010/main" val="111531770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Ok, to put it all together and find the total noise predicted by our model, we simply sum the contribution from the three noise sources we just discussed.</a:t>
            </a:r>
          </a:p>
          <a:p>
            <a:r>
              <a:rPr lang="en-US" dirty="0"/>
              <a:t>We’ve plotted the total noise in black, and we can see that it predicts less noise than the simple model in the ultraviolet, where the penetration depth is less than the thickness of the PCC region.</a:t>
            </a:r>
          </a:p>
          <a:p>
            <a:r>
              <a:rPr lang="en-US" dirty="0"/>
              <a:t>It may seem paradoxical to add a new noise source and measure less noise, but it’s because more photons were detected, albeit only partially.</a:t>
            </a:r>
          </a:p>
        </p:txBody>
      </p:sp>
      <p:sp>
        <p:nvSpPr>
          <p:cNvPr id="4" name="Slide Number Placeholder 3"/>
          <p:cNvSpPr>
            <a:spLocks noGrp="1"/>
          </p:cNvSpPr>
          <p:nvPr>
            <p:ph type="sldNum" sz="quarter" idx="5"/>
          </p:nvPr>
        </p:nvSpPr>
        <p:spPr/>
        <p:txBody>
          <a:bodyPr/>
          <a:lstStyle/>
          <a:p>
            <a:fld id="{855E419C-FC17-4E55-8423-7E8B989299E6}" type="slidenum">
              <a:rPr lang="en-US" smtClean="0"/>
              <a:t>21</a:t>
            </a:fld>
            <a:endParaRPr lang="en-US"/>
          </a:p>
        </p:txBody>
      </p:sp>
    </p:spTree>
    <p:extLst>
      <p:ext uri="{BB962C8B-B14F-4D97-AF65-F5344CB8AC3E}">
        <p14:creationId xmlns:p14="http://schemas.microsoft.com/office/powerpoint/2010/main" val="204869624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can determine the SNR improvement compared to the simple model by taking the square root of the ratio of the simple VMR to the total VMR.</a:t>
            </a:r>
          </a:p>
          <a:p>
            <a:r>
              <a:rPr lang="en-US" dirty="0"/>
              <a:t>This shows that the SNR could be up to 30 percent better than expected in the two ultraviolet bands where the penetration depth is less than the thickness of the PCC region.</a:t>
            </a:r>
          </a:p>
          <a:p>
            <a:r>
              <a:rPr lang="en-US" dirty="0"/>
              <a:t>This is obviously good news for engineers building ultraviolet instruments since the sensor has much better performance than anticipated in these wavelengths.</a:t>
            </a:r>
          </a:p>
        </p:txBody>
      </p:sp>
      <p:sp>
        <p:nvSpPr>
          <p:cNvPr id="4" name="Slide Number Placeholder 3"/>
          <p:cNvSpPr>
            <a:spLocks noGrp="1"/>
          </p:cNvSpPr>
          <p:nvPr>
            <p:ph type="sldNum" sz="quarter" idx="5"/>
          </p:nvPr>
        </p:nvSpPr>
        <p:spPr/>
        <p:txBody>
          <a:bodyPr/>
          <a:lstStyle/>
          <a:p>
            <a:fld id="{855E419C-FC17-4E55-8423-7E8B989299E6}" type="slidenum">
              <a:rPr lang="en-US" smtClean="0"/>
              <a:t>22</a:t>
            </a:fld>
            <a:endParaRPr lang="en-US"/>
          </a:p>
        </p:txBody>
      </p:sp>
    </p:spTree>
    <p:extLst>
      <p:ext uri="{BB962C8B-B14F-4D97-AF65-F5344CB8AC3E}">
        <p14:creationId xmlns:p14="http://schemas.microsoft.com/office/powerpoint/2010/main" val="8623519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Another effect which plays a role in the measured noise is charge spreading, or the tendency of photoelectrons to migrate into neighboring pixels.</a:t>
            </a:r>
          </a:p>
          <a:p>
            <a:r>
              <a:rPr lang="en-US" dirty="0"/>
              <a:t>This effect blurs the image captured by the sensor and decreases the noise since it introduces correlations between adjacent pixels.</a:t>
            </a:r>
          </a:p>
          <a:p>
            <a:r>
              <a:rPr lang="en-US" dirty="0"/>
              <a:t>Both the IRIS and the WFC3 teams proposed charge spreading to explain the discrepancies they observed, so we investigated to see how it influenced the results of our study.</a:t>
            </a:r>
          </a:p>
        </p:txBody>
      </p:sp>
      <p:sp>
        <p:nvSpPr>
          <p:cNvPr id="4" name="Slide Number Placeholder 3"/>
          <p:cNvSpPr>
            <a:spLocks noGrp="1"/>
          </p:cNvSpPr>
          <p:nvPr>
            <p:ph type="sldNum" sz="quarter" idx="5"/>
          </p:nvPr>
        </p:nvSpPr>
        <p:spPr/>
        <p:txBody>
          <a:bodyPr/>
          <a:lstStyle/>
          <a:p>
            <a:fld id="{855E419C-FC17-4E55-8423-7E8B989299E6}" type="slidenum">
              <a:rPr lang="en-US" smtClean="0"/>
              <a:t>23</a:t>
            </a:fld>
            <a:endParaRPr lang="en-US"/>
          </a:p>
        </p:txBody>
      </p:sp>
    </p:spTree>
    <p:extLst>
      <p:ext uri="{BB962C8B-B14F-4D97-AF65-F5344CB8AC3E}">
        <p14:creationId xmlns:p14="http://schemas.microsoft.com/office/powerpoint/2010/main" val="108954090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estimate the magnitude of this effect, we fit a charge spreading model introduced by </a:t>
            </a:r>
            <a:r>
              <a:rPr lang="en-US" dirty="0" err="1"/>
              <a:t>Janesick</a:t>
            </a:r>
            <a:r>
              <a:rPr lang="en-US" dirty="0"/>
              <a:t> (2001) to X-ray measurements taken by Stern et al. (2004).</a:t>
            </a:r>
          </a:p>
          <a:p>
            <a:r>
              <a:rPr lang="en-US" dirty="0"/>
              <a:t>The results show that the charge spreading in the ultraviolet is nearly equal to that in the visible.</a:t>
            </a:r>
          </a:p>
          <a:p>
            <a:r>
              <a:rPr lang="en-US" dirty="0"/>
              <a:t>Therefore, we conclude that charge spreading cannot explain the discrepancies observed by IRIS and WFC3 since it would affect the slopes of both photon transfer curves equally.</a:t>
            </a:r>
          </a:p>
        </p:txBody>
      </p:sp>
      <p:sp>
        <p:nvSpPr>
          <p:cNvPr id="4" name="Slide Number Placeholder 3"/>
          <p:cNvSpPr>
            <a:spLocks noGrp="1"/>
          </p:cNvSpPr>
          <p:nvPr>
            <p:ph type="sldNum" sz="quarter" idx="5"/>
          </p:nvPr>
        </p:nvSpPr>
        <p:spPr/>
        <p:txBody>
          <a:bodyPr/>
          <a:lstStyle/>
          <a:p>
            <a:fld id="{855E419C-FC17-4E55-8423-7E8B989299E6}" type="slidenum">
              <a:rPr lang="en-US" smtClean="0"/>
              <a:t>24</a:t>
            </a:fld>
            <a:endParaRPr lang="en-US"/>
          </a:p>
        </p:txBody>
      </p:sp>
    </p:spTree>
    <p:extLst>
      <p:ext uri="{BB962C8B-B14F-4D97-AF65-F5344CB8AC3E}">
        <p14:creationId xmlns:p14="http://schemas.microsoft.com/office/powerpoint/2010/main" val="270035530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Putting it all together, we can use this sensor model to predict the gain ratios for IRIS and WFC3 that we discussed on the first two slides.</a:t>
            </a:r>
          </a:p>
          <a:p>
            <a:r>
              <a:rPr lang="en-US" dirty="0"/>
              <a:t>For IRIS, we can see that the team measured the gain ratio at 1350 angstroms to be 1.5 and we predicted that ratio to be 1.57, which is much closer than the original prediction of 2.</a:t>
            </a:r>
          </a:p>
          <a:p>
            <a:r>
              <a:rPr lang="en-US" dirty="0"/>
              <a:t>Similarly, the measured gain ratio for WFC3 at 2080 angstroms was 1.09 and we predicted 1.14, which is again much closer than their prediction of 1.7 at this wavelength.</a:t>
            </a:r>
          </a:p>
        </p:txBody>
      </p:sp>
      <p:sp>
        <p:nvSpPr>
          <p:cNvPr id="4" name="Slide Number Placeholder 3"/>
          <p:cNvSpPr>
            <a:spLocks noGrp="1"/>
          </p:cNvSpPr>
          <p:nvPr>
            <p:ph type="sldNum" sz="quarter" idx="5"/>
          </p:nvPr>
        </p:nvSpPr>
        <p:spPr/>
        <p:txBody>
          <a:bodyPr/>
          <a:lstStyle/>
          <a:p>
            <a:fld id="{855E419C-FC17-4E55-8423-7E8B989299E6}" type="slidenum">
              <a:rPr lang="en-US" smtClean="0"/>
              <a:t>25</a:t>
            </a:fld>
            <a:endParaRPr lang="en-US"/>
          </a:p>
        </p:txBody>
      </p:sp>
    </p:spTree>
    <p:extLst>
      <p:ext uri="{BB962C8B-B14F-4D97-AF65-F5344CB8AC3E}">
        <p14:creationId xmlns:p14="http://schemas.microsoft.com/office/powerpoint/2010/main" val="73874969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can also use this sensor model to predict the SNR improvement we can expect for other ultraviolet observatories.</a:t>
            </a:r>
          </a:p>
          <a:p>
            <a:r>
              <a:rPr lang="en-US" dirty="0"/>
              <a:t>For example, the 94 angstrom channel of NASA’s Atmospheric Imaging Assembly, or AIA, is predicted to be 35% better than expected.</a:t>
            </a:r>
          </a:p>
          <a:p>
            <a:r>
              <a:rPr lang="en-US" dirty="0"/>
              <a:t>Also the 108 angstrom channel of the upcoming Multi Slit Solar Explorer, or MUSE, is predicted to be 27% better than expected.</a:t>
            </a:r>
          </a:p>
        </p:txBody>
      </p:sp>
      <p:sp>
        <p:nvSpPr>
          <p:cNvPr id="4" name="Slide Number Placeholder 3"/>
          <p:cNvSpPr>
            <a:spLocks noGrp="1"/>
          </p:cNvSpPr>
          <p:nvPr>
            <p:ph type="sldNum" sz="quarter" idx="5"/>
          </p:nvPr>
        </p:nvSpPr>
        <p:spPr/>
        <p:txBody>
          <a:bodyPr/>
          <a:lstStyle/>
          <a:p>
            <a:fld id="{855E419C-FC17-4E55-8423-7E8B989299E6}" type="slidenum">
              <a:rPr lang="en-US" smtClean="0"/>
              <a:t>26</a:t>
            </a:fld>
            <a:endParaRPr lang="en-US"/>
          </a:p>
        </p:txBody>
      </p:sp>
    </p:spTree>
    <p:extLst>
      <p:ext uri="{BB962C8B-B14F-4D97-AF65-F5344CB8AC3E}">
        <p14:creationId xmlns:p14="http://schemas.microsoft.com/office/powerpoint/2010/main" val="57536660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conclusion, we found that partial charge collection, not charge spreading, explains the discrepancy in the IRIS and WFC3 noise statistics.</a:t>
            </a:r>
          </a:p>
          <a:p>
            <a:r>
              <a:rPr lang="en-US" dirty="0"/>
              <a:t>Since partial charge collection results in more measured photons, our model predicts that the SNR is better in some wavelengths than expected from the simple model.</a:t>
            </a:r>
          </a:p>
          <a:p>
            <a:r>
              <a:rPr lang="en-US" dirty="0"/>
              <a:t>Our results affect the measurement uncertainty of many ultraviolet astronomical observatories such as AIA, IRIS, WFC3, and MUSE.</a:t>
            </a:r>
          </a:p>
          <a:p>
            <a:r>
              <a:rPr lang="en-US" dirty="0"/>
              <a:t>A reference implementation of our model is implemented in Python and published on the Python Package Index as </a:t>
            </a:r>
            <a:r>
              <a:rPr lang="en-US" dirty="0" err="1"/>
              <a:t>optika</a:t>
            </a:r>
            <a:r>
              <a:rPr lang="en-US" dirty="0"/>
              <a:t>.</a:t>
            </a:r>
          </a:p>
        </p:txBody>
      </p:sp>
      <p:sp>
        <p:nvSpPr>
          <p:cNvPr id="4" name="Slide Number Placeholder 3"/>
          <p:cNvSpPr>
            <a:spLocks noGrp="1"/>
          </p:cNvSpPr>
          <p:nvPr>
            <p:ph type="sldNum" sz="quarter" idx="5"/>
          </p:nvPr>
        </p:nvSpPr>
        <p:spPr/>
        <p:txBody>
          <a:bodyPr/>
          <a:lstStyle/>
          <a:p>
            <a:fld id="{855E419C-FC17-4E55-8423-7E8B989299E6}" type="slidenum">
              <a:rPr lang="en-US" smtClean="0"/>
              <a:t>27</a:t>
            </a:fld>
            <a:endParaRPr lang="en-US"/>
          </a:p>
        </p:txBody>
      </p:sp>
    </p:spTree>
    <p:extLst>
      <p:ext uri="{BB962C8B-B14F-4D97-AF65-F5344CB8AC3E}">
        <p14:creationId xmlns:p14="http://schemas.microsoft.com/office/powerpoint/2010/main" val="25828727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3C569C-DEB8-C59B-B351-71EC29747D1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E551F84-0AC1-C6B4-B2DA-E6172617702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EC9D011-FAB1-770E-51DE-95075280AD97}"/>
              </a:ext>
            </a:extLst>
          </p:cNvPr>
          <p:cNvSpPr>
            <a:spLocks noGrp="1"/>
          </p:cNvSpPr>
          <p:nvPr>
            <p:ph type="dt" sz="half" idx="10"/>
          </p:nvPr>
        </p:nvSpPr>
        <p:spPr/>
        <p:txBody>
          <a:bodyPr/>
          <a:lstStyle/>
          <a:p>
            <a:fld id="{258130F9-7804-4ED9-958D-16082AD03066}" type="datetimeFigureOut">
              <a:rPr lang="en-US" smtClean="0"/>
              <a:t>10/7/2025</a:t>
            </a:fld>
            <a:endParaRPr lang="en-US"/>
          </a:p>
        </p:txBody>
      </p:sp>
      <p:sp>
        <p:nvSpPr>
          <p:cNvPr id="5" name="Footer Placeholder 4">
            <a:extLst>
              <a:ext uri="{FF2B5EF4-FFF2-40B4-BE49-F238E27FC236}">
                <a16:creationId xmlns:a16="http://schemas.microsoft.com/office/drawing/2014/main" id="{7C07D46A-5DAB-8038-DEBC-5575CE8F149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F5A0260-8E13-F4DB-3E79-FE81128887D5}"/>
              </a:ext>
            </a:extLst>
          </p:cNvPr>
          <p:cNvSpPr>
            <a:spLocks noGrp="1"/>
          </p:cNvSpPr>
          <p:nvPr>
            <p:ph type="sldNum" sz="quarter" idx="12"/>
          </p:nvPr>
        </p:nvSpPr>
        <p:spPr/>
        <p:txBody>
          <a:bodyPr/>
          <a:lstStyle/>
          <a:p>
            <a:fld id="{BE22396F-BB52-44DF-A28C-B9378BDE23DA}" type="slidenum">
              <a:rPr lang="en-US" smtClean="0"/>
              <a:t>‹#›</a:t>
            </a:fld>
            <a:endParaRPr lang="en-US"/>
          </a:p>
        </p:txBody>
      </p:sp>
    </p:spTree>
    <p:extLst>
      <p:ext uri="{BB962C8B-B14F-4D97-AF65-F5344CB8AC3E}">
        <p14:creationId xmlns:p14="http://schemas.microsoft.com/office/powerpoint/2010/main" val="4121532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7A9550-265C-4475-74DA-3132C06A3A4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808A86A-9A43-F599-FD9B-CAFAE265A77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8E09445-14AC-1628-6BFD-61F2F61548A4}"/>
              </a:ext>
            </a:extLst>
          </p:cNvPr>
          <p:cNvSpPr>
            <a:spLocks noGrp="1"/>
          </p:cNvSpPr>
          <p:nvPr>
            <p:ph type="dt" sz="half" idx="10"/>
          </p:nvPr>
        </p:nvSpPr>
        <p:spPr/>
        <p:txBody>
          <a:bodyPr/>
          <a:lstStyle/>
          <a:p>
            <a:fld id="{258130F9-7804-4ED9-958D-16082AD03066}" type="datetimeFigureOut">
              <a:rPr lang="en-US" smtClean="0"/>
              <a:t>10/7/2025</a:t>
            </a:fld>
            <a:endParaRPr lang="en-US"/>
          </a:p>
        </p:txBody>
      </p:sp>
      <p:sp>
        <p:nvSpPr>
          <p:cNvPr id="5" name="Footer Placeholder 4">
            <a:extLst>
              <a:ext uri="{FF2B5EF4-FFF2-40B4-BE49-F238E27FC236}">
                <a16:creationId xmlns:a16="http://schemas.microsoft.com/office/drawing/2014/main" id="{EF0207AF-6883-BBF6-3FAE-3582550B3B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CE6339-D9EB-58B8-FF67-FB299AB54E08}"/>
              </a:ext>
            </a:extLst>
          </p:cNvPr>
          <p:cNvSpPr>
            <a:spLocks noGrp="1"/>
          </p:cNvSpPr>
          <p:nvPr>
            <p:ph type="sldNum" sz="quarter" idx="12"/>
          </p:nvPr>
        </p:nvSpPr>
        <p:spPr/>
        <p:txBody>
          <a:bodyPr/>
          <a:lstStyle/>
          <a:p>
            <a:fld id="{BE22396F-BB52-44DF-A28C-B9378BDE23DA}" type="slidenum">
              <a:rPr lang="en-US" smtClean="0"/>
              <a:t>‹#›</a:t>
            </a:fld>
            <a:endParaRPr lang="en-US"/>
          </a:p>
        </p:txBody>
      </p:sp>
    </p:spTree>
    <p:extLst>
      <p:ext uri="{BB962C8B-B14F-4D97-AF65-F5344CB8AC3E}">
        <p14:creationId xmlns:p14="http://schemas.microsoft.com/office/powerpoint/2010/main" val="954037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69995D-E421-67AD-6040-7AAEF65EAC9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5622BC2-4C55-C508-E7A0-C3978151B70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E3BDEC0-3C03-4899-0804-F9BEE6A5CBAA}"/>
              </a:ext>
            </a:extLst>
          </p:cNvPr>
          <p:cNvSpPr>
            <a:spLocks noGrp="1"/>
          </p:cNvSpPr>
          <p:nvPr>
            <p:ph type="dt" sz="half" idx="10"/>
          </p:nvPr>
        </p:nvSpPr>
        <p:spPr/>
        <p:txBody>
          <a:bodyPr/>
          <a:lstStyle/>
          <a:p>
            <a:fld id="{258130F9-7804-4ED9-958D-16082AD03066}" type="datetimeFigureOut">
              <a:rPr lang="en-US" smtClean="0"/>
              <a:t>10/7/2025</a:t>
            </a:fld>
            <a:endParaRPr lang="en-US"/>
          </a:p>
        </p:txBody>
      </p:sp>
      <p:sp>
        <p:nvSpPr>
          <p:cNvPr id="5" name="Footer Placeholder 4">
            <a:extLst>
              <a:ext uri="{FF2B5EF4-FFF2-40B4-BE49-F238E27FC236}">
                <a16:creationId xmlns:a16="http://schemas.microsoft.com/office/drawing/2014/main" id="{04E84E17-92E1-E1DF-FE92-11216110C05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7A98A6-FB28-6073-6F5A-7B0E669E5672}"/>
              </a:ext>
            </a:extLst>
          </p:cNvPr>
          <p:cNvSpPr>
            <a:spLocks noGrp="1"/>
          </p:cNvSpPr>
          <p:nvPr>
            <p:ph type="sldNum" sz="quarter" idx="12"/>
          </p:nvPr>
        </p:nvSpPr>
        <p:spPr/>
        <p:txBody>
          <a:bodyPr/>
          <a:lstStyle/>
          <a:p>
            <a:fld id="{BE22396F-BB52-44DF-A28C-B9378BDE23DA}" type="slidenum">
              <a:rPr lang="en-US" smtClean="0"/>
              <a:t>‹#›</a:t>
            </a:fld>
            <a:endParaRPr lang="en-US"/>
          </a:p>
        </p:txBody>
      </p:sp>
    </p:spTree>
    <p:extLst>
      <p:ext uri="{BB962C8B-B14F-4D97-AF65-F5344CB8AC3E}">
        <p14:creationId xmlns:p14="http://schemas.microsoft.com/office/powerpoint/2010/main" val="2008881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58C603-113F-CBBA-DFDA-1384BFB80E5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712A3A3-6CA7-DBE3-5485-515A2FB855E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C460A62-C4C1-8CC2-3BEE-B828F92E2EA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C344C9F-E9FC-4597-38AE-2742CA5EFA6D}"/>
              </a:ext>
            </a:extLst>
          </p:cNvPr>
          <p:cNvSpPr>
            <a:spLocks noGrp="1"/>
          </p:cNvSpPr>
          <p:nvPr>
            <p:ph type="dt" sz="half" idx="10"/>
          </p:nvPr>
        </p:nvSpPr>
        <p:spPr/>
        <p:txBody>
          <a:bodyPr/>
          <a:lstStyle/>
          <a:p>
            <a:fld id="{258130F9-7804-4ED9-958D-16082AD03066}" type="datetimeFigureOut">
              <a:rPr lang="en-US" smtClean="0"/>
              <a:t>10/7/2025</a:t>
            </a:fld>
            <a:endParaRPr lang="en-US"/>
          </a:p>
        </p:txBody>
      </p:sp>
      <p:sp>
        <p:nvSpPr>
          <p:cNvPr id="6" name="Footer Placeholder 5">
            <a:extLst>
              <a:ext uri="{FF2B5EF4-FFF2-40B4-BE49-F238E27FC236}">
                <a16:creationId xmlns:a16="http://schemas.microsoft.com/office/drawing/2014/main" id="{65A98CC5-8D65-CFB4-6B00-F089A8507E4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E8CC2A1-CE95-BE15-5D89-071F3DBE7AD5}"/>
              </a:ext>
            </a:extLst>
          </p:cNvPr>
          <p:cNvSpPr>
            <a:spLocks noGrp="1"/>
          </p:cNvSpPr>
          <p:nvPr>
            <p:ph type="sldNum" sz="quarter" idx="12"/>
          </p:nvPr>
        </p:nvSpPr>
        <p:spPr/>
        <p:txBody>
          <a:bodyPr/>
          <a:lstStyle/>
          <a:p>
            <a:fld id="{BE22396F-BB52-44DF-A28C-B9378BDE23DA}" type="slidenum">
              <a:rPr lang="en-US" smtClean="0"/>
              <a:t>‹#›</a:t>
            </a:fld>
            <a:endParaRPr lang="en-US"/>
          </a:p>
        </p:txBody>
      </p:sp>
    </p:spTree>
    <p:extLst>
      <p:ext uri="{BB962C8B-B14F-4D97-AF65-F5344CB8AC3E}">
        <p14:creationId xmlns:p14="http://schemas.microsoft.com/office/powerpoint/2010/main" val="36549767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B1E22B-280B-0E25-75C8-88FA9BAFD93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04F80F5-DC1B-6775-8C38-83F97F2CA85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E39E506-7B59-4B7A-8B8E-5229E4C544C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CDEE2A-F887-21F0-9CAA-AAE58DB0FCA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2087D0C-073D-D092-894B-E7088CB68E1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510D21A-25DB-339F-0B2A-8F5D90F31A76}"/>
              </a:ext>
            </a:extLst>
          </p:cNvPr>
          <p:cNvSpPr>
            <a:spLocks noGrp="1"/>
          </p:cNvSpPr>
          <p:nvPr>
            <p:ph type="dt" sz="half" idx="10"/>
          </p:nvPr>
        </p:nvSpPr>
        <p:spPr/>
        <p:txBody>
          <a:bodyPr/>
          <a:lstStyle/>
          <a:p>
            <a:fld id="{258130F9-7804-4ED9-958D-16082AD03066}" type="datetimeFigureOut">
              <a:rPr lang="en-US" smtClean="0"/>
              <a:t>10/7/2025</a:t>
            </a:fld>
            <a:endParaRPr lang="en-US"/>
          </a:p>
        </p:txBody>
      </p:sp>
      <p:sp>
        <p:nvSpPr>
          <p:cNvPr id="8" name="Footer Placeholder 7">
            <a:extLst>
              <a:ext uri="{FF2B5EF4-FFF2-40B4-BE49-F238E27FC236}">
                <a16:creationId xmlns:a16="http://schemas.microsoft.com/office/drawing/2014/main" id="{B4DBE9D7-B2DB-EF14-D8DD-F1F9610004A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55885E6-F7D8-0E06-D639-05C8390C4C0D}"/>
              </a:ext>
            </a:extLst>
          </p:cNvPr>
          <p:cNvSpPr>
            <a:spLocks noGrp="1"/>
          </p:cNvSpPr>
          <p:nvPr>
            <p:ph type="sldNum" sz="quarter" idx="12"/>
          </p:nvPr>
        </p:nvSpPr>
        <p:spPr/>
        <p:txBody>
          <a:bodyPr/>
          <a:lstStyle/>
          <a:p>
            <a:fld id="{BE22396F-BB52-44DF-A28C-B9378BDE23DA}" type="slidenum">
              <a:rPr lang="en-US" smtClean="0"/>
              <a:t>‹#›</a:t>
            </a:fld>
            <a:endParaRPr lang="en-US"/>
          </a:p>
        </p:txBody>
      </p:sp>
    </p:spTree>
    <p:extLst>
      <p:ext uri="{BB962C8B-B14F-4D97-AF65-F5344CB8AC3E}">
        <p14:creationId xmlns:p14="http://schemas.microsoft.com/office/powerpoint/2010/main" val="39909832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8607A0-2F82-CEC8-06A0-983747396F5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AD92307-33BC-886C-CCF2-F91BC1EC2D0C}"/>
              </a:ext>
            </a:extLst>
          </p:cNvPr>
          <p:cNvSpPr>
            <a:spLocks noGrp="1"/>
          </p:cNvSpPr>
          <p:nvPr>
            <p:ph type="dt" sz="half" idx="10"/>
          </p:nvPr>
        </p:nvSpPr>
        <p:spPr/>
        <p:txBody>
          <a:bodyPr/>
          <a:lstStyle/>
          <a:p>
            <a:fld id="{258130F9-7804-4ED9-958D-16082AD03066}" type="datetimeFigureOut">
              <a:rPr lang="en-US" smtClean="0"/>
              <a:t>10/7/2025</a:t>
            </a:fld>
            <a:endParaRPr lang="en-US"/>
          </a:p>
        </p:txBody>
      </p:sp>
      <p:sp>
        <p:nvSpPr>
          <p:cNvPr id="4" name="Footer Placeholder 3">
            <a:extLst>
              <a:ext uri="{FF2B5EF4-FFF2-40B4-BE49-F238E27FC236}">
                <a16:creationId xmlns:a16="http://schemas.microsoft.com/office/drawing/2014/main" id="{71882477-489F-D035-730E-A0A0F55FAA9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E94C6CB-9809-89BC-795A-996C365B3B79}"/>
              </a:ext>
            </a:extLst>
          </p:cNvPr>
          <p:cNvSpPr>
            <a:spLocks noGrp="1"/>
          </p:cNvSpPr>
          <p:nvPr>
            <p:ph type="sldNum" sz="quarter" idx="12"/>
          </p:nvPr>
        </p:nvSpPr>
        <p:spPr/>
        <p:txBody>
          <a:bodyPr/>
          <a:lstStyle/>
          <a:p>
            <a:fld id="{BE22396F-BB52-44DF-A28C-B9378BDE23DA}" type="slidenum">
              <a:rPr lang="en-US" smtClean="0"/>
              <a:t>‹#›</a:t>
            </a:fld>
            <a:endParaRPr lang="en-US"/>
          </a:p>
        </p:txBody>
      </p:sp>
    </p:spTree>
    <p:extLst>
      <p:ext uri="{BB962C8B-B14F-4D97-AF65-F5344CB8AC3E}">
        <p14:creationId xmlns:p14="http://schemas.microsoft.com/office/powerpoint/2010/main" val="31042879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A1F88CA-4D0B-CD66-1CDD-0C14A2492F1D}"/>
              </a:ext>
            </a:extLst>
          </p:cNvPr>
          <p:cNvSpPr>
            <a:spLocks noGrp="1"/>
          </p:cNvSpPr>
          <p:nvPr>
            <p:ph type="dt" sz="half" idx="10"/>
          </p:nvPr>
        </p:nvSpPr>
        <p:spPr/>
        <p:txBody>
          <a:bodyPr/>
          <a:lstStyle/>
          <a:p>
            <a:fld id="{258130F9-7804-4ED9-958D-16082AD03066}" type="datetimeFigureOut">
              <a:rPr lang="en-US" smtClean="0"/>
              <a:t>10/7/2025</a:t>
            </a:fld>
            <a:endParaRPr lang="en-US"/>
          </a:p>
        </p:txBody>
      </p:sp>
      <p:sp>
        <p:nvSpPr>
          <p:cNvPr id="3" name="Footer Placeholder 2">
            <a:extLst>
              <a:ext uri="{FF2B5EF4-FFF2-40B4-BE49-F238E27FC236}">
                <a16:creationId xmlns:a16="http://schemas.microsoft.com/office/drawing/2014/main" id="{1C2C5A4F-A958-4F3E-CB1D-79B907ECA3D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AF86287-BB6B-B40B-E582-1715A901712A}"/>
              </a:ext>
            </a:extLst>
          </p:cNvPr>
          <p:cNvSpPr>
            <a:spLocks noGrp="1"/>
          </p:cNvSpPr>
          <p:nvPr>
            <p:ph type="sldNum" sz="quarter" idx="12"/>
          </p:nvPr>
        </p:nvSpPr>
        <p:spPr/>
        <p:txBody>
          <a:bodyPr/>
          <a:lstStyle/>
          <a:p>
            <a:fld id="{BE22396F-BB52-44DF-A28C-B9378BDE23DA}" type="slidenum">
              <a:rPr lang="en-US" smtClean="0"/>
              <a:t>‹#›</a:t>
            </a:fld>
            <a:endParaRPr lang="en-US"/>
          </a:p>
        </p:txBody>
      </p:sp>
    </p:spTree>
    <p:extLst>
      <p:ext uri="{BB962C8B-B14F-4D97-AF65-F5344CB8AC3E}">
        <p14:creationId xmlns:p14="http://schemas.microsoft.com/office/powerpoint/2010/main" val="28656074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0F6D42-CFE9-AE90-A495-20D11CE2A17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2AA82D9-C62D-185E-5474-564869BC9AF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EB867F5-067A-9A08-07F1-AF70B9E0DFF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F87162C-2A1D-A31F-D497-5397F0729472}"/>
              </a:ext>
            </a:extLst>
          </p:cNvPr>
          <p:cNvSpPr>
            <a:spLocks noGrp="1"/>
          </p:cNvSpPr>
          <p:nvPr>
            <p:ph type="dt" sz="half" idx="10"/>
          </p:nvPr>
        </p:nvSpPr>
        <p:spPr/>
        <p:txBody>
          <a:bodyPr/>
          <a:lstStyle/>
          <a:p>
            <a:fld id="{258130F9-7804-4ED9-958D-16082AD03066}" type="datetimeFigureOut">
              <a:rPr lang="en-US" smtClean="0"/>
              <a:t>10/7/2025</a:t>
            </a:fld>
            <a:endParaRPr lang="en-US"/>
          </a:p>
        </p:txBody>
      </p:sp>
      <p:sp>
        <p:nvSpPr>
          <p:cNvPr id="6" name="Footer Placeholder 5">
            <a:extLst>
              <a:ext uri="{FF2B5EF4-FFF2-40B4-BE49-F238E27FC236}">
                <a16:creationId xmlns:a16="http://schemas.microsoft.com/office/drawing/2014/main" id="{69D3A917-FAE2-26B2-F8FF-1C7112904A6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2D85297-5A27-DFD3-832E-337326F72889}"/>
              </a:ext>
            </a:extLst>
          </p:cNvPr>
          <p:cNvSpPr>
            <a:spLocks noGrp="1"/>
          </p:cNvSpPr>
          <p:nvPr>
            <p:ph type="sldNum" sz="quarter" idx="12"/>
          </p:nvPr>
        </p:nvSpPr>
        <p:spPr/>
        <p:txBody>
          <a:bodyPr/>
          <a:lstStyle/>
          <a:p>
            <a:fld id="{BE22396F-BB52-44DF-A28C-B9378BDE23DA}" type="slidenum">
              <a:rPr lang="en-US" smtClean="0"/>
              <a:t>‹#›</a:t>
            </a:fld>
            <a:endParaRPr lang="en-US"/>
          </a:p>
        </p:txBody>
      </p:sp>
    </p:spTree>
    <p:extLst>
      <p:ext uri="{BB962C8B-B14F-4D97-AF65-F5344CB8AC3E}">
        <p14:creationId xmlns:p14="http://schemas.microsoft.com/office/powerpoint/2010/main" val="34179150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FC3257-6E11-1561-D373-20E49686ACC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2D7136C-A2C2-EFF1-9B48-FC1A8A1B60B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63F113B-3629-E2EC-6EE5-FF9AF7BCD96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4CA677B-12CF-FE32-C3A3-B98A89342017}"/>
              </a:ext>
            </a:extLst>
          </p:cNvPr>
          <p:cNvSpPr>
            <a:spLocks noGrp="1"/>
          </p:cNvSpPr>
          <p:nvPr>
            <p:ph type="dt" sz="half" idx="10"/>
          </p:nvPr>
        </p:nvSpPr>
        <p:spPr/>
        <p:txBody>
          <a:bodyPr/>
          <a:lstStyle/>
          <a:p>
            <a:fld id="{258130F9-7804-4ED9-958D-16082AD03066}" type="datetimeFigureOut">
              <a:rPr lang="en-US" smtClean="0"/>
              <a:t>10/7/2025</a:t>
            </a:fld>
            <a:endParaRPr lang="en-US"/>
          </a:p>
        </p:txBody>
      </p:sp>
      <p:sp>
        <p:nvSpPr>
          <p:cNvPr id="6" name="Footer Placeholder 5">
            <a:extLst>
              <a:ext uri="{FF2B5EF4-FFF2-40B4-BE49-F238E27FC236}">
                <a16:creationId xmlns:a16="http://schemas.microsoft.com/office/drawing/2014/main" id="{7853684F-EE56-0D37-8B5B-2EAC764CD4C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CBA2499-85EB-A820-AC9B-523EED533805}"/>
              </a:ext>
            </a:extLst>
          </p:cNvPr>
          <p:cNvSpPr>
            <a:spLocks noGrp="1"/>
          </p:cNvSpPr>
          <p:nvPr>
            <p:ph type="sldNum" sz="quarter" idx="12"/>
          </p:nvPr>
        </p:nvSpPr>
        <p:spPr/>
        <p:txBody>
          <a:bodyPr/>
          <a:lstStyle/>
          <a:p>
            <a:fld id="{BE22396F-BB52-44DF-A28C-B9378BDE23DA}" type="slidenum">
              <a:rPr lang="en-US" smtClean="0"/>
              <a:t>‹#›</a:t>
            </a:fld>
            <a:endParaRPr lang="en-US"/>
          </a:p>
        </p:txBody>
      </p:sp>
    </p:spTree>
    <p:extLst>
      <p:ext uri="{BB962C8B-B14F-4D97-AF65-F5344CB8AC3E}">
        <p14:creationId xmlns:p14="http://schemas.microsoft.com/office/powerpoint/2010/main" val="33313182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19D5E3-87CC-B5A9-6F2C-0B147CC9A32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294EFE0-0211-9607-FD0B-4AA4105AE12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7D70D5D-3618-92D9-3F57-B8F275F24CAE}"/>
              </a:ext>
            </a:extLst>
          </p:cNvPr>
          <p:cNvSpPr>
            <a:spLocks noGrp="1"/>
          </p:cNvSpPr>
          <p:nvPr>
            <p:ph type="dt" sz="half" idx="10"/>
          </p:nvPr>
        </p:nvSpPr>
        <p:spPr/>
        <p:txBody>
          <a:bodyPr/>
          <a:lstStyle/>
          <a:p>
            <a:fld id="{258130F9-7804-4ED9-958D-16082AD03066}" type="datetimeFigureOut">
              <a:rPr lang="en-US" smtClean="0"/>
              <a:t>10/7/2025</a:t>
            </a:fld>
            <a:endParaRPr lang="en-US"/>
          </a:p>
        </p:txBody>
      </p:sp>
      <p:sp>
        <p:nvSpPr>
          <p:cNvPr id="5" name="Footer Placeholder 4">
            <a:extLst>
              <a:ext uri="{FF2B5EF4-FFF2-40B4-BE49-F238E27FC236}">
                <a16:creationId xmlns:a16="http://schemas.microsoft.com/office/drawing/2014/main" id="{B5B2F799-9F64-5B62-260D-45A78C7F356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27D1616-5466-6784-E389-360D3979D490}"/>
              </a:ext>
            </a:extLst>
          </p:cNvPr>
          <p:cNvSpPr>
            <a:spLocks noGrp="1"/>
          </p:cNvSpPr>
          <p:nvPr>
            <p:ph type="sldNum" sz="quarter" idx="12"/>
          </p:nvPr>
        </p:nvSpPr>
        <p:spPr/>
        <p:txBody>
          <a:bodyPr/>
          <a:lstStyle/>
          <a:p>
            <a:fld id="{BE22396F-BB52-44DF-A28C-B9378BDE23DA}" type="slidenum">
              <a:rPr lang="en-US" smtClean="0"/>
              <a:t>‹#›</a:t>
            </a:fld>
            <a:endParaRPr lang="en-US"/>
          </a:p>
        </p:txBody>
      </p:sp>
    </p:spTree>
    <p:extLst>
      <p:ext uri="{BB962C8B-B14F-4D97-AF65-F5344CB8AC3E}">
        <p14:creationId xmlns:p14="http://schemas.microsoft.com/office/powerpoint/2010/main" val="13573645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42BF780-F3AA-36D8-AB1A-54FDB686382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7FB093D-CBF1-2C77-814D-6B372F4062A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D04CA1D-60F2-C642-DC83-9DE795218259}"/>
              </a:ext>
            </a:extLst>
          </p:cNvPr>
          <p:cNvSpPr>
            <a:spLocks noGrp="1"/>
          </p:cNvSpPr>
          <p:nvPr>
            <p:ph type="dt" sz="half" idx="10"/>
          </p:nvPr>
        </p:nvSpPr>
        <p:spPr/>
        <p:txBody>
          <a:bodyPr/>
          <a:lstStyle/>
          <a:p>
            <a:fld id="{258130F9-7804-4ED9-958D-16082AD03066}" type="datetimeFigureOut">
              <a:rPr lang="en-US" smtClean="0"/>
              <a:t>10/7/2025</a:t>
            </a:fld>
            <a:endParaRPr lang="en-US"/>
          </a:p>
        </p:txBody>
      </p:sp>
      <p:sp>
        <p:nvSpPr>
          <p:cNvPr id="5" name="Footer Placeholder 4">
            <a:extLst>
              <a:ext uri="{FF2B5EF4-FFF2-40B4-BE49-F238E27FC236}">
                <a16:creationId xmlns:a16="http://schemas.microsoft.com/office/drawing/2014/main" id="{CDF4C88C-46A4-8A23-02D5-2E2BB278E6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BB9E3E-FDBF-B0AD-66D6-CB889C77F4D7}"/>
              </a:ext>
            </a:extLst>
          </p:cNvPr>
          <p:cNvSpPr>
            <a:spLocks noGrp="1"/>
          </p:cNvSpPr>
          <p:nvPr>
            <p:ph type="sldNum" sz="quarter" idx="12"/>
          </p:nvPr>
        </p:nvSpPr>
        <p:spPr/>
        <p:txBody>
          <a:bodyPr/>
          <a:lstStyle/>
          <a:p>
            <a:fld id="{BE22396F-BB52-44DF-A28C-B9378BDE23DA}" type="slidenum">
              <a:rPr lang="en-US" smtClean="0"/>
              <a:t>‹#›</a:t>
            </a:fld>
            <a:endParaRPr lang="en-US"/>
          </a:p>
        </p:txBody>
      </p:sp>
    </p:spTree>
    <p:extLst>
      <p:ext uri="{BB962C8B-B14F-4D97-AF65-F5344CB8AC3E}">
        <p14:creationId xmlns:p14="http://schemas.microsoft.com/office/powerpoint/2010/main" val="25792668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FA0989A-FF7D-0664-8A72-222B3FB3FCD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EBFC7B3-D120-94D6-E23F-22AC834EB04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2B73019-2330-2782-F0F4-C065F89D10C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58130F9-7804-4ED9-958D-16082AD03066}" type="datetimeFigureOut">
              <a:rPr lang="en-US" smtClean="0"/>
              <a:t>10/7/2025</a:t>
            </a:fld>
            <a:endParaRPr lang="en-US"/>
          </a:p>
        </p:txBody>
      </p:sp>
      <p:sp>
        <p:nvSpPr>
          <p:cNvPr id="5" name="Footer Placeholder 4">
            <a:extLst>
              <a:ext uri="{FF2B5EF4-FFF2-40B4-BE49-F238E27FC236}">
                <a16:creationId xmlns:a16="http://schemas.microsoft.com/office/drawing/2014/main" id="{ACDB1FDD-4D4A-93E3-3C1E-A8885ECAD22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5807375-EA6A-4638-905B-A78D730E0FC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E22396F-BB52-44DF-A28C-B9378BDE23DA}" type="slidenum">
              <a:rPr lang="en-US" smtClean="0"/>
              <a:t>‹#›</a:t>
            </a:fld>
            <a:endParaRPr lang="en-US"/>
          </a:p>
        </p:txBody>
      </p:sp>
    </p:spTree>
    <p:extLst>
      <p:ext uri="{BB962C8B-B14F-4D97-AF65-F5344CB8AC3E}">
        <p14:creationId xmlns:p14="http://schemas.microsoft.com/office/powerpoint/2010/main" val="33254356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file:///C:\Users\byrdie\Kankelborg-Group\spd-2025\images\logo-montana-state-u.png" TargetMode="External"/><Relationship Id="rId5" Type="http://schemas.openxmlformats.org/officeDocument/2006/relationships/image" Target="../media/image3.png"/><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4.xml"/><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4.xml"/><Relationship Id="rId5" Type="http://schemas.openxmlformats.org/officeDocument/2006/relationships/image" Target="file:///C:\Users\byrdie\Kankelborg-Group\spd-2025\figures\schematic.svg" TargetMode="External"/><Relationship Id="rId4" Type="http://schemas.openxmlformats.org/officeDocument/2006/relationships/image" Target="../media/image11.sv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4.xml"/><Relationship Id="rId5" Type="http://schemas.openxmlformats.org/officeDocument/2006/relationships/image" Target="file:///C:\Users\byrdie\Kankelborg-Group\spd-2025\figures\absorbance.svg" TargetMode="External"/><Relationship Id="rId4" Type="http://schemas.openxmlformats.org/officeDocument/2006/relationships/image" Target="../media/image13.sv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4.xml"/><Relationship Id="rId6" Type="http://schemas.openxmlformats.org/officeDocument/2006/relationships/image" Target="file:///C:\Users\byrdie\Kankelborg-Group\spd-2025\figures\quantum_yield.svg" TargetMode="External"/><Relationship Id="rId5" Type="http://schemas.openxmlformats.org/officeDocument/2006/relationships/image" Target="../media/image15.sv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9.xml"/><Relationship Id="rId1" Type="http://schemas.openxmlformats.org/officeDocument/2006/relationships/slideLayout" Target="../slideLayouts/slideLayout4.xml"/><Relationship Id="rId6" Type="http://schemas.openxmlformats.org/officeDocument/2006/relationships/image" Target="file:///C:\Users\byrdie\Kankelborg-Group\spd-2025\figures\differential_cce.svg" TargetMode="External"/><Relationship Id="rId5" Type="http://schemas.openxmlformats.org/officeDocument/2006/relationships/image" Target="../media/image17.svg"/><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4.xml"/><Relationship Id="rId6" Type="http://schemas.openxmlformats.org/officeDocument/2006/relationships/image" Target="file:///C:\Users\byrdie\Kankelborg-Group\spd-2025\figures\cce.svg" TargetMode="External"/><Relationship Id="rId5" Type="http://schemas.openxmlformats.org/officeDocument/2006/relationships/image" Target="../media/image20.svg"/><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1.xml"/><Relationship Id="rId1" Type="http://schemas.openxmlformats.org/officeDocument/2006/relationships/slideLayout" Target="../slideLayouts/slideLayout4.xml"/><Relationship Id="rId4" Type="http://schemas.openxmlformats.org/officeDocument/2006/relationships/image" Target="../media/image23.png"/></Relationships>
</file>

<file path=ppt/slides/_rels/slide12.xml.rels><?xml version="1.0" encoding="UTF-8" standalone="yes"?>
<Relationships xmlns="http://schemas.openxmlformats.org/package/2006/relationships"><Relationship Id="rId7" Type="http://schemas.openxmlformats.org/officeDocument/2006/relationships/image" Target="file:///C:\Users\byrdie\Kankelborg-Group\spd-2025\figures\eqe.svg"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22.svg"/><Relationship Id="rId5" Type="http://schemas.openxmlformats.org/officeDocument/2006/relationships/image" Target="../media/image21.png"/><Relationship Id="rId4" Type="http://schemas.openxmlformats.org/officeDocument/2006/relationships/image" Target="../media/image200.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30.png"/></Relationships>
</file>

<file path=ppt/slides/_rels/slide15.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5.png"/><Relationship Id="rId7" Type="http://schemas.openxmlformats.org/officeDocument/2006/relationships/image" Target="file:///C:\Users\byrdie\Kankelborg-Group\spd-2025\figures\vmr_simple.svg" TargetMode="External"/><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28.svg"/><Relationship Id="rId5" Type="http://schemas.openxmlformats.org/officeDocument/2006/relationships/image" Target="../media/image27.png"/><Relationship Id="rId4" Type="http://schemas.openxmlformats.org/officeDocument/2006/relationships/image" Target="../media/image26.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0.png"/><Relationship Id="rId7" Type="http://schemas.openxmlformats.org/officeDocument/2006/relationships/image" Target="../media/image35.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file:///C:\Users\byrdie\Kankelborg-Group\spd-2025\figures\vmr_shot.svg" TargetMode="External"/><Relationship Id="rId4" Type="http://schemas.openxmlformats.org/officeDocument/2006/relationships/image" Target="../media/image31.svg"/></Relationships>
</file>

<file path=ppt/slides/_rels/slide1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file:///C:\Users\byrdie\Kankelborg-Group\spd-2025\figures\vmr_fano.svg" TargetMode="External"/><Relationship Id="rId5" Type="http://schemas.openxmlformats.org/officeDocument/2006/relationships/image" Target="../media/image33.svg"/><Relationship Id="rId4" Type="http://schemas.openxmlformats.org/officeDocument/2006/relationships/image" Target="../media/image32.png"/></Relationships>
</file>

<file path=ppt/slides/_rels/slide1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9.xml"/><Relationship Id="rId1" Type="http://schemas.openxmlformats.org/officeDocument/2006/relationships/slideLayout" Target="../slideLayouts/slideLayout4.xml"/><Relationship Id="rId6" Type="http://schemas.openxmlformats.org/officeDocument/2006/relationships/image" Target="../media/image39.png"/><Relationship Id="rId5" Type="http://schemas.openxmlformats.org/officeDocument/2006/relationships/image" Target="file:///C:\Users\byrdie\Kankelborg-Group\spd-2025\figures\vmr_pcc.svg" TargetMode="External"/><Relationship Id="rId4" Type="http://schemas.openxmlformats.org/officeDocument/2006/relationships/image" Target="../media/image38.svg"/></Relationships>
</file>

<file path=ppt/slides/_rels/slide2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0.xml"/><Relationship Id="rId1" Type="http://schemas.openxmlformats.org/officeDocument/2006/relationships/slideLayout" Target="../slideLayouts/slideLayout4.xml"/><Relationship Id="rId5" Type="http://schemas.openxmlformats.org/officeDocument/2006/relationships/image" Target="file:///C:\Users\byrdie\Kankelborg-Group\spd-2025\figures\penetration_depth.svg" TargetMode="External"/><Relationship Id="rId4" Type="http://schemas.openxmlformats.org/officeDocument/2006/relationships/image" Target="../media/image41.svg"/></Relationships>
</file>

<file path=ppt/slides/_rels/slide2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file:///C:\Users\byrdie\Kankelborg-Group\spd-2025\figures\vmr_total.svg" TargetMode="External"/><Relationship Id="rId4" Type="http://schemas.openxmlformats.org/officeDocument/2006/relationships/image" Target="../media/image43.svg"/></Relationships>
</file>

<file path=ppt/slides/_rels/slide22.xml.rels><?xml version="1.0" encoding="UTF-8" standalone="yes"?>
<Relationships xmlns="http://schemas.openxmlformats.org/package/2006/relationships"><Relationship Id="rId3" Type="http://schemas.openxmlformats.org/officeDocument/2006/relationships/image" Target="../media/image43.png"/><Relationship Id="rId7" Type="http://schemas.openxmlformats.org/officeDocument/2006/relationships/image" Target="../media/image46.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file:///C:\Users\byrdie\Kankelborg-Group\spd-2025\figures\vmr_ratio.svg" TargetMode="External"/><Relationship Id="rId5" Type="http://schemas.openxmlformats.org/officeDocument/2006/relationships/image" Target="../media/image45.svg"/><Relationship Id="rId4" Type="http://schemas.openxmlformats.org/officeDocument/2006/relationships/image" Target="../media/image44.png"/></Relationships>
</file>

<file path=ppt/slides/_rels/slide23.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image" Target="file:///C:\Users\byrdie\Kankelborg-Group\spd-2025\figures\charge_diffusion.svg" TargetMode="External"/><Relationship Id="rId4" Type="http://schemas.openxmlformats.org/officeDocument/2006/relationships/image" Target="../media/image49.svg"/></Relationships>
</file>

<file path=ppt/slides/_rels/slide25.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file:///C:\Users\byrdie\Kankelborg-Group\spd-2025\tables\measurement.PNG" TargetMode="External"/></Relationships>
</file>

<file path=ppt/slides/_rels/slide26.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file:///C:\Users\byrdie\Kankelborg-Group\spd-2025\tables\improvement.png" TargetMode="Externa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ED0D78-B8F3-3EB4-B71B-C96274606B90}"/>
              </a:ext>
            </a:extLst>
          </p:cNvPr>
          <p:cNvSpPr>
            <a:spLocks noGrp="1"/>
          </p:cNvSpPr>
          <p:nvPr>
            <p:ph type="ctrTitle"/>
          </p:nvPr>
        </p:nvSpPr>
        <p:spPr/>
        <p:txBody>
          <a:bodyPr>
            <a:normAutofit fontScale="90000"/>
          </a:bodyPr>
          <a:lstStyle/>
          <a:p>
            <a:r>
              <a:rPr lang="en-US" dirty="0"/>
              <a:t>The Noise Measured by Back-illuminated Silicon Sensors</a:t>
            </a:r>
          </a:p>
        </p:txBody>
      </p:sp>
      <p:sp>
        <p:nvSpPr>
          <p:cNvPr id="3" name="Subtitle 2">
            <a:extLst>
              <a:ext uri="{FF2B5EF4-FFF2-40B4-BE49-F238E27FC236}">
                <a16:creationId xmlns:a16="http://schemas.microsoft.com/office/drawing/2014/main" id="{5C3C4A91-87F3-CD1A-A45C-63E2D4243FFC}"/>
              </a:ext>
            </a:extLst>
          </p:cNvPr>
          <p:cNvSpPr>
            <a:spLocks noGrp="1"/>
          </p:cNvSpPr>
          <p:nvPr>
            <p:ph type="subTitle" idx="1"/>
          </p:nvPr>
        </p:nvSpPr>
        <p:spPr>
          <a:xfrm>
            <a:off x="1524000" y="3602037"/>
            <a:ext cx="9144000" cy="2887086"/>
          </a:xfrm>
        </p:spPr>
        <p:txBody>
          <a:bodyPr>
            <a:normAutofit/>
          </a:bodyPr>
          <a:lstStyle/>
          <a:p>
            <a:r>
              <a:rPr lang="en-US" dirty="0"/>
              <a:t>Roy T. Smart</a:t>
            </a:r>
            <a:r>
              <a:rPr lang="en-US" baseline="30000" dirty="0"/>
              <a:t>1</a:t>
            </a:r>
            <a:r>
              <a:rPr lang="en-US" dirty="0"/>
              <a:t>, Charles C. Kankelborg</a:t>
            </a:r>
            <a:r>
              <a:rPr lang="en-US" baseline="30000" dirty="0"/>
              <a:t>1</a:t>
            </a:r>
            <a:r>
              <a:rPr lang="en-US" dirty="0"/>
              <a:t>, and Jacob D. Parker</a:t>
            </a:r>
            <a:r>
              <a:rPr lang="en-US" baseline="30000" dirty="0"/>
              <a:t>2</a:t>
            </a:r>
          </a:p>
          <a:p>
            <a:r>
              <a:rPr lang="en-US" baseline="30000" dirty="0"/>
              <a:t>1</a:t>
            </a:r>
            <a:r>
              <a:rPr lang="en-US" dirty="0"/>
              <a:t>Montana State University</a:t>
            </a:r>
          </a:p>
          <a:p>
            <a:r>
              <a:rPr lang="en-US" baseline="30000" dirty="0"/>
              <a:t>2</a:t>
            </a:r>
            <a:r>
              <a:rPr lang="en-US" dirty="0"/>
              <a:t>NASA/GSFC</a:t>
            </a:r>
          </a:p>
          <a:p>
            <a:endParaRPr lang="en-US" dirty="0"/>
          </a:p>
          <a:p>
            <a:r>
              <a:rPr lang="en-US" dirty="0" err="1"/>
              <a:t>OpTeC</a:t>
            </a:r>
            <a:r>
              <a:rPr lang="en-US" dirty="0"/>
              <a:t> 2025</a:t>
            </a:r>
          </a:p>
          <a:p>
            <a:r>
              <a:rPr lang="en-US" dirty="0"/>
              <a:t>October 9</a:t>
            </a:r>
            <a:r>
              <a:rPr lang="en-US" baseline="30000" dirty="0"/>
              <a:t>th</a:t>
            </a:r>
            <a:r>
              <a:rPr lang="en-US" dirty="0"/>
              <a:t>, 2025</a:t>
            </a:r>
          </a:p>
        </p:txBody>
      </p:sp>
      <p:pic>
        <p:nvPicPr>
          <p:cNvPr id="5" name="Graphic 4">
            <a:extLst>
              <a:ext uri="{FF2B5EF4-FFF2-40B4-BE49-F238E27FC236}">
                <a16:creationId xmlns:a16="http://schemas.microsoft.com/office/drawing/2014/main" id="{69520E26-019F-4D35-3B67-512584CD533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72278" y="136318"/>
            <a:ext cx="2357933" cy="1972089"/>
          </a:xfrm>
          <a:prstGeom prst="rect">
            <a:avLst/>
          </a:prstGeom>
        </p:spPr>
      </p:pic>
      <p:pic>
        <p:nvPicPr>
          <p:cNvPr id="9" name="Picture 8" descr="A blue and yellow logo with a yellow flame&#10;&#10;AI-generated content may be incorrect.">
            <a:extLst>
              <a:ext uri="{FF2B5EF4-FFF2-40B4-BE49-F238E27FC236}">
                <a16:creationId xmlns:a16="http://schemas.microsoft.com/office/drawing/2014/main" id="{922AFE5E-ED77-8EEA-72A1-DA6825CF4D7F}"/>
              </a:ext>
            </a:extLst>
          </p:cNvPr>
          <p:cNvPicPr>
            <a:picLocks noChangeAspect="1"/>
          </p:cNvPicPr>
          <p:nvPr/>
        </p:nvPicPr>
        <p:blipFill>
          <a:blip r:embed="rId5" r:link="rId6">
            <a:extLst>
              <a:ext uri="{28A0092B-C50C-407E-A947-70E740481C1C}">
                <a14:useLocalDpi xmlns:a14="http://schemas.microsoft.com/office/drawing/2010/main" val="0"/>
              </a:ext>
            </a:extLst>
          </a:blip>
          <a:stretch>
            <a:fillRect/>
          </a:stretch>
        </p:blipFill>
        <p:spPr>
          <a:xfrm>
            <a:off x="9402417" y="180801"/>
            <a:ext cx="2699815" cy="1883121"/>
          </a:xfrm>
          <a:prstGeom prst="rect">
            <a:avLst/>
          </a:prstGeom>
        </p:spPr>
      </p:pic>
    </p:spTree>
    <p:extLst>
      <p:ext uri="{BB962C8B-B14F-4D97-AF65-F5344CB8AC3E}">
        <p14:creationId xmlns:p14="http://schemas.microsoft.com/office/powerpoint/2010/main" val="11909980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undefined">
            <a:extLst>
              <a:ext uri="{FF2B5EF4-FFF2-40B4-BE49-F238E27FC236}">
                <a16:creationId xmlns:a16="http://schemas.microsoft.com/office/drawing/2014/main" id="{7D5793E1-2662-2E1E-16B8-E5C9CB27512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0194" y="4899101"/>
            <a:ext cx="3853666" cy="1813933"/>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7A52B0AF-243D-A0F4-EBAC-29DB724BE942}"/>
              </a:ext>
            </a:extLst>
          </p:cNvPr>
          <p:cNvSpPr>
            <a:spLocks noGrp="1"/>
          </p:cNvSpPr>
          <p:nvPr>
            <p:ph type="title"/>
          </p:nvPr>
        </p:nvSpPr>
        <p:spPr>
          <a:xfrm>
            <a:off x="838200" y="365125"/>
            <a:ext cx="5964044" cy="1325563"/>
          </a:xfrm>
        </p:spPr>
        <p:txBody>
          <a:bodyPr/>
          <a:lstStyle/>
          <a:p>
            <a:r>
              <a:rPr lang="en-US" dirty="0"/>
              <a:t>IRIS Noise Discrepancy</a:t>
            </a:r>
          </a:p>
        </p:txBody>
      </p:sp>
      <p:sp>
        <p:nvSpPr>
          <p:cNvPr id="3" name="Content Placeholder 2">
            <a:extLst>
              <a:ext uri="{FF2B5EF4-FFF2-40B4-BE49-F238E27FC236}">
                <a16:creationId xmlns:a16="http://schemas.microsoft.com/office/drawing/2014/main" id="{8CDA3767-A517-A8B6-3E9A-D78A398D2709}"/>
              </a:ext>
            </a:extLst>
          </p:cNvPr>
          <p:cNvSpPr>
            <a:spLocks noGrp="1"/>
          </p:cNvSpPr>
          <p:nvPr>
            <p:ph sz="half" idx="1"/>
          </p:nvPr>
        </p:nvSpPr>
        <p:spPr>
          <a:xfrm>
            <a:off x="838199" y="1825625"/>
            <a:ext cx="5837664" cy="3564131"/>
          </a:xfrm>
        </p:spPr>
        <p:txBody>
          <a:bodyPr>
            <a:normAutofit fontScale="92500" lnSpcReduction="10000"/>
          </a:bodyPr>
          <a:lstStyle/>
          <a:p>
            <a:r>
              <a:rPr lang="en-US" dirty="0"/>
              <a:t>Interface Region Imaging Spectrograph (IRIS)</a:t>
            </a:r>
          </a:p>
          <a:p>
            <a:pPr lvl="1"/>
            <a:r>
              <a:rPr lang="en-US" dirty="0"/>
              <a:t>Ultraviolet (UV) solar spectrograph</a:t>
            </a:r>
          </a:p>
          <a:p>
            <a:pPr lvl="1"/>
            <a:r>
              <a:rPr lang="en-US" dirty="0"/>
              <a:t>Built and operated with the help of MSU</a:t>
            </a:r>
          </a:p>
          <a:p>
            <a:r>
              <a:rPr lang="en-US" dirty="0"/>
              <a:t>IRIS CCDs measure less noise than predicted</a:t>
            </a:r>
          </a:p>
          <a:p>
            <a:pPr lvl="1"/>
            <a:r>
              <a:rPr lang="en-US" dirty="0"/>
              <a:t>UV photon transfer curve is too steep</a:t>
            </a:r>
          </a:p>
          <a:p>
            <a:pPr lvl="2"/>
            <a:r>
              <a:rPr lang="en-US" dirty="0"/>
              <a:t>Expected slope ratio &gt; 2</a:t>
            </a:r>
          </a:p>
          <a:p>
            <a:pPr lvl="2"/>
            <a:r>
              <a:rPr lang="en-US" dirty="0"/>
              <a:t>Measured slope ratio = 1.5</a:t>
            </a:r>
          </a:p>
          <a:p>
            <a:pPr lvl="1"/>
            <a:r>
              <a:rPr lang="en-US" dirty="0"/>
              <a:t>SNR is ~25% better than expected</a:t>
            </a:r>
          </a:p>
        </p:txBody>
      </p:sp>
      <p:pic>
        <p:nvPicPr>
          <p:cNvPr id="7" name="Content Placeholder 7" descr="A graph of a photo transfer curve&#10;&#10;AI-generated content may be incorrect.">
            <a:extLst>
              <a:ext uri="{FF2B5EF4-FFF2-40B4-BE49-F238E27FC236}">
                <a16:creationId xmlns:a16="http://schemas.microsoft.com/office/drawing/2014/main" id="{5CB2DA91-B3DC-B87A-ED6B-F5A72A99176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10400" y="3302943"/>
            <a:ext cx="5040573" cy="3283121"/>
          </a:xfrm>
          <a:prstGeom prst="rect">
            <a:avLst/>
          </a:prstGeom>
        </p:spPr>
      </p:pic>
      <p:pic>
        <p:nvPicPr>
          <p:cNvPr id="8" name="Picture 7" descr="A graph of a blue led&#10;&#10;AI-generated content may be incorrect.">
            <a:extLst>
              <a:ext uri="{FF2B5EF4-FFF2-40B4-BE49-F238E27FC236}">
                <a16:creationId xmlns:a16="http://schemas.microsoft.com/office/drawing/2014/main" id="{49F753F9-9178-F037-C1C0-8AE6F2A4B6F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010400" y="1"/>
            <a:ext cx="5181600" cy="3302942"/>
          </a:xfrm>
          <a:prstGeom prst="rect">
            <a:avLst/>
          </a:prstGeom>
        </p:spPr>
      </p:pic>
      <p:sp>
        <p:nvSpPr>
          <p:cNvPr id="4" name="TextBox 3">
            <a:extLst>
              <a:ext uri="{FF2B5EF4-FFF2-40B4-BE49-F238E27FC236}">
                <a16:creationId xmlns:a16="http://schemas.microsoft.com/office/drawing/2014/main" id="{D85D480C-24A2-0442-B0D1-83E8FF85C6D3}"/>
              </a:ext>
            </a:extLst>
          </p:cNvPr>
          <p:cNvSpPr txBox="1"/>
          <p:nvPr/>
        </p:nvSpPr>
        <p:spPr>
          <a:xfrm>
            <a:off x="10147609" y="6488667"/>
            <a:ext cx="2099036" cy="369332"/>
          </a:xfrm>
          <a:prstGeom prst="rect">
            <a:avLst/>
          </a:prstGeom>
          <a:noFill/>
        </p:spPr>
        <p:txBody>
          <a:bodyPr wrap="none" rtlCol="0">
            <a:spAutoFit/>
          </a:bodyPr>
          <a:lstStyle/>
          <a:p>
            <a:r>
              <a:rPr lang="en-US" dirty="0" err="1"/>
              <a:t>Wülser</a:t>
            </a:r>
            <a:r>
              <a:rPr lang="en-US" dirty="0"/>
              <a:t> et al. (2018)</a:t>
            </a:r>
          </a:p>
        </p:txBody>
      </p:sp>
    </p:spTree>
    <p:extLst>
      <p:ext uri="{BB962C8B-B14F-4D97-AF65-F5344CB8AC3E}">
        <p14:creationId xmlns:p14="http://schemas.microsoft.com/office/powerpoint/2010/main" val="34762156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70EBB0-AF01-4726-B890-DC15B2759DD4}"/>
              </a:ext>
            </a:extLst>
          </p:cNvPr>
          <p:cNvSpPr>
            <a:spLocks noGrp="1"/>
          </p:cNvSpPr>
          <p:nvPr>
            <p:ph type="title"/>
          </p:nvPr>
        </p:nvSpPr>
        <p:spPr/>
        <p:txBody>
          <a:bodyPr/>
          <a:lstStyle/>
          <a:p>
            <a:r>
              <a:rPr lang="en-US" dirty="0"/>
              <a:t>HST/WFC3 Noise</a:t>
            </a:r>
          </a:p>
        </p:txBody>
      </p:sp>
      <p:sp>
        <p:nvSpPr>
          <p:cNvPr id="3" name="Content Placeholder 2">
            <a:extLst>
              <a:ext uri="{FF2B5EF4-FFF2-40B4-BE49-F238E27FC236}">
                <a16:creationId xmlns:a16="http://schemas.microsoft.com/office/drawing/2014/main" id="{082E9CD5-0682-03F8-9CC0-D2EE8F52990A}"/>
              </a:ext>
            </a:extLst>
          </p:cNvPr>
          <p:cNvSpPr>
            <a:spLocks noGrp="1"/>
          </p:cNvSpPr>
          <p:nvPr>
            <p:ph sz="half" idx="1"/>
          </p:nvPr>
        </p:nvSpPr>
        <p:spPr>
          <a:xfrm>
            <a:off x="838200" y="1825625"/>
            <a:ext cx="4516466" cy="3385712"/>
          </a:xfrm>
        </p:spPr>
        <p:txBody>
          <a:bodyPr>
            <a:normAutofit lnSpcReduction="10000"/>
          </a:bodyPr>
          <a:lstStyle/>
          <a:p>
            <a:r>
              <a:rPr lang="en-US" dirty="0"/>
              <a:t>Wide Field Camera 3 (WFC3) on Hubble </a:t>
            </a:r>
          </a:p>
          <a:p>
            <a:pPr lvl="1"/>
            <a:r>
              <a:rPr lang="en-US" dirty="0"/>
              <a:t>Ultraviolet imager</a:t>
            </a:r>
          </a:p>
          <a:p>
            <a:r>
              <a:rPr lang="en-US" dirty="0"/>
              <a:t>Also measures less noise</a:t>
            </a:r>
          </a:p>
          <a:p>
            <a:pPr lvl="1"/>
            <a:r>
              <a:rPr lang="en-US" dirty="0"/>
              <a:t>PTC slope ratio</a:t>
            </a:r>
          </a:p>
          <a:p>
            <a:pPr lvl="2"/>
            <a:r>
              <a:rPr lang="en-US" dirty="0"/>
              <a:t>Expected ~1.7 @ 200 nm</a:t>
            </a:r>
          </a:p>
          <a:p>
            <a:pPr lvl="2"/>
            <a:r>
              <a:rPr lang="en-US" dirty="0"/>
              <a:t>Measured 1.09 @ 200 nm</a:t>
            </a:r>
          </a:p>
          <a:p>
            <a:pPr lvl="1"/>
            <a:r>
              <a:rPr lang="en-US" dirty="0"/>
              <a:t>SNR is ~25% better than expected</a:t>
            </a:r>
          </a:p>
          <a:p>
            <a:pPr lvl="1"/>
            <a:endParaRPr lang="en-US" dirty="0"/>
          </a:p>
          <a:p>
            <a:pPr lvl="1"/>
            <a:endParaRPr lang="en-US" dirty="0"/>
          </a:p>
        </p:txBody>
      </p:sp>
      <p:pic>
        <p:nvPicPr>
          <p:cNvPr id="5" name="Content Placeholder 5" descr="A graph of a graph&#10;&#10;AI-generated content may be incorrect.">
            <a:extLst>
              <a:ext uri="{FF2B5EF4-FFF2-40B4-BE49-F238E27FC236}">
                <a16:creationId xmlns:a16="http://schemas.microsoft.com/office/drawing/2014/main" id="{BBD8E45B-E6A2-F434-C7C3-40059DD5954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54666" y="294534"/>
            <a:ext cx="6586276" cy="5452524"/>
          </a:xfrm>
          <a:prstGeom prst="rect">
            <a:avLst/>
          </a:prstGeom>
        </p:spPr>
      </p:pic>
      <p:sp>
        <p:nvSpPr>
          <p:cNvPr id="4" name="TextBox 3">
            <a:extLst>
              <a:ext uri="{FF2B5EF4-FFF2-40B4-BE49-F238E27FC236}">
                <a16:creationId xmlns:a16="http://schemas.microsoft.com/office/drawing/2014/main" id="{CBDD44DB-BC67-2F94-5716-01E4895D0CE6}"/>
              </a:ext>
            </a:extLst>
          </p:cNvPr>
          <p:cNvSpPr txBox="1"/>
          <p:nvPr/>
        </p:nvSpPr>
        <p:spPr>
          <a:xfrm>
            <a:off x="9151995" y="5992297"/>
            <a:ext cx="2635722" cy="369332"/>
          </a:xfrm>
          <a:prstGeom prst="rect">
            <a:avLst/>
          </a:prstGeom>
          <a:noFill/>
        </p:spPr>
        <p:txBody>
          <a:bodyPr wrap="none" rtlCol="0">
            <a:spAutoFit/>
          </a:bodyPr>
          <a:lstStyle/>
          <a:p>
            <a:r>
              <a:rPr lang="en-US" dirty="0"/>
              <a:t>Marinelli &amp; Green (2024)</a:t>
            </a:r>
          </a:p>
        </p:txBody>
      </p:sp>
      <p:pic>
        <p:nvPicPr>
          <p:cNvPr id="2050" name="Picture 2">
            <a:extLst>
              <a:ext uri="{FF2B5EF4-FFF2-40B4-BE49-F238E27FC236}">
                <a16:creationId xmlns:a16="http://schemas.microsoft.com/office/drawing/2014/main" id="{EAE48BF5-A109-5FCE-5AE2-03921ED8D6D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1058" y="5006781"/>
            <a:ext cx="3115971" cy="26102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449126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BD5EA8-068B-5EAA-D49F-B0B1B09F4E63}"/>
              </a:ext>
            </a:extLst>
          </p:cNvPr>
          <p:cNvSpPr>
            <a:spLocks noGrp="1"/>
          </p:cNvSpPr>
          <p:nvPr>
            <p:ph type="title"/>
          </p:nvPr>
        </p:nvSpPr>
        <p:spPr/>
        <p:txBody>
          <a:bodyPr/>
          <a:lstStyle/>
          <a:p>
            <a:r>
              <a:rPr lang="en-US" dirty="0"/>
              <a:t>Outline</a:t>
            </a:r>
          </a:p>
        </p:txBody>
      </p:sp>
      <p:sp>
        <p:nvSpPr>
          <p:cNvPr id="3" name="Content Placeholder 2">
            <a:extLst>
              <a:ext uri="{FF2B5EF4-FFF2-40B4-BE49-F238E27FC236}">
                <a16:creationId xmlns:a16="http://schemas.microsoft.com/office/drawing/2014/main" id="{FA72E8FB-6D23-74C0-CB9E-5E4548D56DDC}"/>
              </a:ext>
            </a:extLst>
          </p:cNvPr>
          <p:cNvSpPr>
            <a:spLocks noGrp="1"/>
          </p:cNvSpPr>
          <p:nvPr>
            <p:ph idx="1"/>
          </p:nvPr>
        </p:nvSpPr>
        <p:spPr>
          <a:xfrm>
            <a:off x="838200" y="1825625"/>
            <a:ext cx="5599771" cy="4351338"/>
          </a:xfrm>
        </p:spPr>
        <p:txBody>
          <a:bodyPr>
            <a:normAutofit fontScale="92500" lnSpcReduction="10000"/>
          </a:bodyPr>
          <a:lstStyle/>
          <a:p>
            <a:r>
              <a:rPr lang="en-US" dirty="0"/>
              <a:t>Signal (Stern et al. 1994)</a:t>
            </a:r>
          </a:p>
          <a:p>
            <a:pPr lvl="1"/>
            <a:r>
              <a:rPr lang="en-US" dirty="0"/>
              <a:t>Absorbance</a:t>
            </a:r>
          </a:p>
          <a:p>
            <a:pPr lvl="1"/>
            <a:r>
              <a:rPr lang="en-US" dirty="0"/>
              <a:t>Quantum yield</a:t>
            </a:r>
          </a:p>
          <a:p>
            <a:pPr lvl="1"/>
            <a:r>
              <a:rPr lang="en-US" dirty="0"/>
              <a:t>Charge-collection efficiency</a:t>
            </a:r>
          </a:p>
          <a:p>
            <a:r>
              <a:rPr lang="en-US" dirty="0"/>
              <a:t>Noise</a:t>
            </a:r>
          </a:p>
          <a:p>
            <a:pPr lvl="1"/>
            <a:r>
              <a:rPr lang="en-US" dirty="0"/>
              <a:t>Simple noise model (Stern et al. 1986)</a:t>
            </a:r>
          </a:p>
          <a:p>
            <a:pPr lvl="1"/>
            <a:r>
              <a:rPr lang="en-US" dirty="0"/>
              <a:t>Improved noise model</a:t>
            </a:r>
          </a:p>
          <a:p>
            <a:pPr lvl="2"/>
            <a:r>
              <a:rPr lang="en-US" dirty="0"/>
              <a:t>Shot noise</a:t>
            </a:r>
          </a:p>
          <a:p>
            <a:pPr lvl="2"/>
            <a:r>
              <a:rPr lang="en-US" dirty="0"/>
              <a:t>Fano noise</a:t>
            </a:r>
          </a:p>
          <a:p>
            <a:pPr lvl="2"/>
            <a:r>
              <a:rPr lang="en-US" dirty="0"/>
              <a:t>Partial charge collection noise</a:t>
            </a:r>
          </a:p>
          <a:p>
            <a:r>
              <a:rPr lang="en-US" dirty="0"/>
              <a:t>Charge Spreading</a:t>
            </a:r>
          </a:p>
          <a:p>
            <a:r>
              <a:rPr lang="en-US" dirty="0"/>
              <a:t>Results</a:t>
            </a:r>
          </a:p>
        </p:txBody>
      </p:sp>
      <p:pic>
        <p:nvPicPr>
          <p:cNvPr id="1026" name="Picture 2">
            <a:extLst>
              <a:ext uri="{FF2B5EF4-FFF2-40B4-BE49-F238E27FC236}">
                <a16:creationId xmlns:a16="http://schemas.microsoft.com/office/drawing/2014/main" id="{361FF154-F0C4-67FF-F497-F0BDBDCD188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03485" y="1825625"/>
            <a:ext cx="5295900" cy="41148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6697CF2D-FA68-7FF6-8755-525471D410FA}"/>
              </a:ext>
            </a:extLst>
          </p:cNvPr>
          <p:cNvSpPr txBox="1"/>
          <p:nvPr/>
        </p:nvSpPr>
        <p:spPr>
          <a:xfrm>
            <a:off x="7533160" y="6075362"/>
            <a:ext cx="4266225" cy="646331"/>
          </a:xfrm>
          <a:prstGeom prst="rect">
            <a:avLst/>
          </a:prstGeom>
          <a:noFill/>
        </p:spPr>
        <p:txBody>
          <a:bodyPr wrap="square" rtlCol="0">
            <a:spAutoFit/>
          </a:bodyPr>
          <a:lstStyle/>
          <a:p>
            <a:r>
              <a:rPr lang="en-US" dirty="0"/>
              <a:t>Detector package similar to the WFC3/UVIS flight detector.</a:t>
            </a:r>
          </a:p>
        </p:txBody>
      </p:sp>
    </p:spTree>
    <p:extLst>
      <p:ext uri="{BB962C8B-B14F-4D97-AF65-F5344CB8AC3E}">
        <p14:creationId xmlns:p14="http://schemas.microsoft.com/office/powerpoint/2010/main" val="8185445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EE0AAE-95A8-7E60-56F7-ADB44E3BE64D}"/>
              </a:ext>
            </a:extLst>
          </p:cNvPr>
          <p:cNvSpPr>
            <a:spLocks noGrp="1"/>
          </p:cNvSpPr>
          <p:nvPr>
            <p:ph type="title"/>
          </p:nvPr>
        </p:nvSpPr>
        <p:spPr>
          <a:xfrm>
            <a:off x="838200" y="2766218"/>
            <a:ext cx="10515600" cy="1325563"/>
          </a:xfrm>
        </p:spPr>
        <p:txBody>
          <a:bodyPr/>
          <a:lstStyle/>
          <a:p>
            <a:pPr algn="ctr"/>
            <a:r>
              <a:rPr lang="en-US" dirty="0"/>
              <a:t>Signal</a:t>
            </a:r>
          </a:p>
        </p:txBody>
      </p:sp>
    </p:spTree>
    <p:extLst>
      <p:ext uri="{BB962C8B-B14F-4D97-AF65-F5344CB8AC3E}">
        <p14:creationId xmlns:p14="http://schemas.microsoft.com/office/powerpoint/2010/main" val="10735664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E74AE261-2FDB-F446-B5F0-9FA6C869783F}"/>
              </a:ext>
            </a:extLst>
          </p:cNvPr>
          <p:cNvPicPr>
            <a:picLocks noChangeAspect="1"/>
          </p:cNvPicPr>
          <p:nvPr/>
        </p:nvPicPr>
        <p:blipFill>
          <a:blip r:embed="rId3">
            <a:extLst>
              <a:ext uri="{96DAC541-7B7A-43D3-8B79-37D633B846F1}">
                <asvg:svgBlip xmlns:asvg="http://schemas.microsoft.com/office/drawing/2016/SVG/main" r:embed="rId4" r:link="rId5"/>
              </a:ext>
            </a:extLst>
          </a:blip>
          <a:stretch>
            <a:fillRect/>
          </a:stretch>
        </p:blipFill>
        <p:spPr>
          <a:xfrm>
            <a:off x="4569759" y="853888"/>
            <a:ext cx="7315200" cy="5486400"/>
          </a:xfrm>
          <a:prstGeom prst="rect">
            <a:avLst/>
          </a:prstGeom>
        </p:spPr>
      </p:pic>
      <p:sp>
        <p:nvSpPr>
          <p:cNvPr id="2" name="Title 1">
            <a:extLst>
              <a:ext uri="{FF2B5EF4-FFF2-40B4-BE49-F238E27FC236}">
                <a16:creationId xmlns:a16="http://schemas.microsoft.com/office/drawing/2014/main" id="{6C1CD73A-E0A6-B763-28FB-17B7C300A940}"/>
              </a:ext>
            </a:extLst>
          </p:cNvPr>
          <p:cNvSpPr>
            <a:spLocks noGrp="1"/>
          </p:cNvSpPr>
          <p:nvPr>
            <p:ph type="title"/>
          </p:nvPr>
        </p:nvSpPr>
        <p:spPr>
          <a:xfrm>
            <a:off x="838200" y="365125"/>
            <a:ext cx="5112124" cy="1325563"/>
          </a:xfrm>
        </p:spPr>
        <p:txBody>
          <a:bodyPr/>
          <a:lstStyle/>
          <a:p>
            <a:r>
              <a:rPr lang="en-US" dirty="0"/>
              <a:t>Back-illuminated Sensor Model</a:t>
            </a:r>
          </a:p>
        </p:txBody>
      </p:sp>
      <p:sp>
        <p:nvSpPr>
          <p:cNvPr id="3" name="Content Placeholder 2">
            <a:extLst>
              <a:ext uri="{FF2B5EF4-FFF2-40B4-BE49-F238E27FC236}">
                <a16:creationId xmlns:a16="http://schemas.microsoft.com/office/drawing/2014/main" id="{7D218F83-ABBB-CF81-0CE8-0EC5C4270FD4}"/>
              </a:ext>
            </a:extLst>
          </p:cNvPr>
          <p:cNvSpPr>
            <a:spLocks noGrp="1"/>
          </p:cNvSpPr>
          <p:nvPr>
            <p:ph sz="half" idx="1"/>
          </p:nvPr>
        </p:nvSpPr>
        <p:spPr>
          <a:xfrm>
            <a:off x="838200" y="1825625"/>
            <a:ext cx="3801035" cy="4351338"/>
          </a:xfrm>
        </p:spPr>
        <p:txBody>
          <a:bodyPr/>
          <a:lstStyle/>
          <a:p>
            <a:r>
              <a:rPr lang="en-US" dirty="0"/>
              <a:t>Thin layer of silicon dioxide (~1 nm)</a:t>
            </a:r>
          </a:p>
          <a:p>
            <a:r>
              <a:rPr lang="en-US" dirty="0"/>
              <a:t>Light-sensitive silicon (16 </a:t>
            </a:r>
            <a:r>
              <a:rPr lang="el-GR" dirty="0"/>
              <a:t>μ</a:t>
            </a:r>
            <a:r>
              <a:rPr lang="en-US" dirty="0"/>
              <a:t>m)</a:t>
            </a:r>
          </a:p>
          <a:p>
            <a:pPr lvl="1"/>
            <a:r>
              <a:rPr lang="en-US" dirty="0"/>
              <a:t>Partial charge collection (PCC) region (~100 nm)</a:t>
            </a:r>
          </a:p>
          <a:p>
            <a:pPr lvl="1"/>
            <a:r>
              <a:rPr lang="en-US" dirty="0"/>
              <a:t>Field-free region </a:t>
            </a:r>
          </a:p>
          <a:p>
            <a:pPr lvl="1"/>
            <a:r>
              <a:rPr lang="en-US" dirty="0"/>
              <a:t>Depletion region (8 </a:t>
            </a:r>
            <a:r>
              <a:rPr lang="el-GR" dirty="0"/>
              <a:t>μ</a:t>
            </a:r>
            <a:r>
              <a:rPr lang="en-US" dirty="0"/>
              <a:t>m)</a:t>
            </a:r>
          </a:p>
          <a:p>
            <a:pPr lvl="1"/>
            <a:endParaRPr lang="en-US" dirty="0"/>
          </a:p>
        </p:txBody>
      </p:sp>
    </p:spTree>
    <p:extLst>
      <p:ext uri="{BB962C8B-B14F-4D97-AF65-F5344CB8AC3E}">
        <p14:creationId xmlns:p14="http://schemas.microsoft.com/office/powerpoint/2010/main" val="39925002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FDB8D4-0E8C-F9FC-CE3D-C8D7D1BC05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79CE5E-9CC6-A7CC-1BE7-8A869F7F4EE1}"/>
              </a:ext>
            </a:extLst>
          </p:cNvPr>
          <p:cNvSpPr>
            <a:spLocks noGrp="1"/>
          </p:cNvSpPr>
          <p:nvPr>
            <p:ph type="title"/>
          </p:nvPr>
        </p:nvSpPr>
        <p:spPr>
          <a:xfrm>
            <a:off x="838200" y="365125"/>
            <a:ext cx="4486835" cy="1325563"/>
          </a:xfrm>
        </p:spPr>
        <p:txBody>
          <a:bodyPr>
            <a:normAutofit/>
          </a:bodyPr>
          <a:lstStyle/>
          <a:p>
            <a:r>
              <a:rPr lang="en-US" dirty="0"/>
              <a:t>Absorbance</a:t>
            </a:r>
          </a:p>
        </p:txBody>
      </p:sp>
      <p:sp>
        <p:nvSpPr>
          <p:cNvPr id="3" name="Content Placeholder 2">
            <a:extLst>
              <a:ext uri="{FF2B5EF4-FFF2-40B4-BE49-F238E27FC236}">
                <a16:creationId xmlns:a16="http://schemas.microsoft.com/office/drawing/2014/main" id="{BF807FC5-6B1F-AB73-48A7-19B0500F6B89}"/>
              </a:ext>
            </a:extLst>
          </p:cNvPr>
          <p:cNvSpPr>
            <a:spLocks noGrp="1"/>
          </p:cNvSpPr>
          <p:nvPr>
            <p:ph sz="half" idx="1"/>
          </p:nvPr>
        </p:nvSpPr>
        <p:spPr>
          <a:xfrm>
            <a:off x="838200" y="1825624"/>
            <a:ext cx="4224618" cy="4456987"/>
          </a:xfrm>
        </p:spPr>
        <p:txBody>
          <a:bodyPr>
            <a:normAutofit lnSpcReduction="10000"/>
          </a:bodyPr>
          <a:lstStyle/>
          <a:p>
            <a:r>
              <a:rPr lang="en-US" dirty="0"/>
              <a:t>Energy absorbed by light-sensitive layer</a:t>
            </a:r>
          </a:p>
          <a:p>
            <a:pPr lvl="1"/>
            <a:r>
              <a:rPr lang="en-US" dirty="0"/>
              <a:t>Reflections from each interface</a:t>
            </a:r>
          </a:p>
          <a:p>
            <a:pPr lvl="1"/>
            <a:r>
              <a:rPr lang="en-US" dirty="0"/>
              <a:t>Oxide absorption</a:t>
            </a:r>
          </a:p>
          <a:p>
            <a:pPr lvl="1"/>
            <a:r>
              <a:rPr lang="en-US" dirty="0"/>
              <a:t>Transmittance through entire sensor</a:t>
            </a:r>
          </a:p>
          <a:p>
            <a:r>
              <a:rPr lang="en-US" dirty="0"/>
              <a:t>Computed using standard optical constants </a:t>
            </a:r>
          </a:p>
          <a:p>
            <a:pPr lvl="1"/>
            <a:r>
              <a:rPr lang="en-US" dirty="0"/>
              <a:t>Henke et al. (1993)</a:t>
            </a:r>
          </a:p>
          <a:p>
            <a:pPr lvl="1"/>
            <a:r>
              <a:rPr lang="en-US" dirty="0"/>
              <a:t>Palik (1997)</a:t>
            </a:r>
          </a:p>
          <a:p>
            <a:endParaRPr lang="en-US" dirty="0"/>
          </a:p>
        </p:txBody>
      </p:sp>
      <p:pic>
        <p:nvPicPr>
          <p:cNvPr id="6" name="Graphic 5">
            <a:extLst>
              <a:ext uri="{FF2B5EF4-FFF2-40B4-BE49-F238E27FC236}">
                <a16:creationId xmlns:a16="http://schemas.microsoft.com/office/drawing/2014/main" id="{FB7BE68D-2314-784B-F90F-F2877359CF9B}"/>
              </a:ext>
            </a:extLst>
          </p:cNvPr>
          <p:cNvPicPr>
            <a:picLocks noChangeAspect="1"/>
          </p:cNvPicPr>
          <p:nvPr/>
        </p:nvPicPr>
        <p:blipFill>
          <a:blip r:embed="rId3">
            <a:extLst>
              <a:ext uri="{96DAC541-7B7A-43D3-8B79-37D633B846F1}">
                <asvg:svgBlip xmlns:asvg="http://schemas.microsoft.com/office/drawing/2016/SVG/main" r:embed="rId4" r:link="rId5"/>
              </a:ext>
            </a:extLst>
          </a:blip>
          <a:stretch>
            <a:fillRect/>
          </a:stretch>
        </p:blipFill>
        <p:spPr>
          <a:xfrm>
            <a:off x="5513832" y="685800"/>
            <a:ext cx="6400800" cy="5486400"/>
          </a:xfrm>
          <a:prstGeom prst="rect">
            <a:avLst/>
          </a:prstGeom>
        </p:spPr>
      </p:pic>
    </p:spTree>
    <p:extLst>
      <p:ext uri="{BB962C8B-B14F-4D97-AF65-F5344CB8AC3E}">
        <p14:creationId xmlns:p14="http://schemas.microsoft.com/office/powerpoint/2010/main" val="4495560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B07C58-9BB5-4446-79AA-8FE8AE99FD8E}"/>
              </a:ext>
            </a:extLst>
          </p:cNvPr>
          <p:cNvSpPr>
            <a:spLocks noGrp="1"/>
          </p:cNvSpPr>
          <p:nvPr>
            <p:ph type="title"/>
          </p:nvPr>
        </p:nvSpPr>
        <p:spPr/>
        <p:txBody>
          <a:bodyPr/>
          <a:lstStyle/>
          <a:p>
            <a:r>
              <a:rPr lang="en-US" dirty="0"/>
              <a:t>Quantum Yield</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830642D-FCDE-A247-43EE-17DCD3F7A03B}"/>
                  </a:ext>
                </a:extLst>
              </p:cNvPr>
              <p:cNvSpPr>
                <a:spLocks noGrp="1"/>
              </p:cNvSpPr>
              <p:nvPr>
                <p:ph sz="half" idx="1"/>
              </p:nvPr>
            </p:nvSpPr>
            <p:spPr>
              <a:xfrm>
                <a:off x="838199" y="1825625"/>
                <a:ext cx="4435549" cy="4346575"/>
              </a:xfrm>
            </p:spPr>
            <p:txBody>
              <a:bodyPr>
                <a:normAutofit/>
              </a:bodyPr>
              <a:lstStyle/>
              <a:p>
                <a:r>
                  <a:rPr lang="en-US" dirty="0"/>
                  <a:t>Quantum yield (QY) is the number of electron-hole pairs generated per photon</a:t>
                </a:r>
              </a:p>
              <a:p>
                <a:r>
                  <a:rPr lang="en-US" dirty="0"/>
                  <a:t>QY increases as photon energy increases</a:t>
                </a:r>
              </a:p>
              <a:p>
                <a:pPr lvl="1"/>
                <a14:m>
                  <m:oMath xmlns:m="http://schemas.openxmlformats.org/officeDocument/2006/math">
                    <m:r>
                      <m:rPr>
                        <m:nor/>
                      </m:rPr>
                      <a:rPr lang="en-US">
                        <a:latin typeface="Cambria Math" panose="02040503050406030204" pitchFamily="18" charset="0"/>
                      </a:rPr>
                      <m:t>n</m:t>
                    </m:r>
                    <m:r>
                      <a:rPr lang="en-US" i="1">
                        <a:latin typeface="Cambria Math" panose="02040503050406030204" pitchFamily="18" charset="0"/>
                        <a:ea typeface="Cambria Math" panose="02040503050406030204" pitchFamily="18" charset="0"/>
                      </a:rPr>
                      <m:t>≈</m:t>
                    </m:r>
                    <m:f>
                      <m:fPr>
                        <m:type m:val="lin"/>
                        <m:ctrlPr>
                          <a:rPr lang="en-US" i="1" smtClean="0">
                            <a:latin typeface="Cambria Math" panose="02040503050406030204" pitchFamily="18" charset="0"/>
                            <a:ea typeface="Cambria Math" panose="02040503050406030204" pitchFamily="18" charset="0"/>
                          </a:rPr>
                        </m:ctrlPr>
                      </m:fPr>
                      <m:num>
                        <m:sSub>
                          <m:sSubPr>
                            <m:ctrlPr>
                              <a:rPr lang="en-US"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𝐸</m:t>
                            </m:r>
                          </m:e>
                          <m:sub>
                            <m:r>
                              <a:rPr lang="en-US" i="1" smtClean="0">
                                <a:latin typeface="Cambria Math" panose="02040503050406030204" pitchFamily="18" charset="0"/>
                                <a:ea typeface="Cambria Math" panose="02040503050406030204" pitchFamily="18" charset="0"/>
                              </a:rPr>
                              <m:t>𝛾</m:t>
                            </m:r>
                          </m:sub>
                        </m:sSub>
                      </m:num>
                      <m:den>
                        <m:r>
                          <m:rPr>
                            <m:nor/>
                          </m:rPr>
                          <a:rPr lang="en-US" b="0" i="0" smtClean="0">
                            <a:latin typeface="Cambria Math" panose="02040503050406030204" pitchFamily="18" charset="0"/>
                            <a:ea typeface="Cambria Math" panose="02040503050406030204" pitchFamily="18" charset="0"/>
                          </a:rPr>
                          <m:t>3.65 </m:t>
                        </m:r>
                        <m:r>
                          <m:rPr>
                            <m:nor/>
                          </m:rPr>
                          <a:rPr lang="en-US" b="0" i="0" smtClean="0">
                            <a:latin typeface="Cambria Math" panose="02040503050406030204" pitchFamily="18" charset="0"/>
                            <a:ea typeface="Cambria Math" panose="02040503050406030204" pitchFamily="18" charset="0"/>
                          </a:rPr>
                          <m:t>eV</m:t>
                        </m:r>
                      </m:den>
                    </m:f>
                  </m:oMath>
                </a14:m>
                <a:endParaRPr lang="en-US" dirty="0"/>
              </a:p>
              <a:p>
                <a:r>
                  <a:rPr lang="en-US" dirty="0"/>
                  <a:t>Ramanathan &amp; Kurinsky (2020) QY model</a:t>
                </a:r>
              </a:p>
            </p:txBody>
          </p:sp>
        </mc:Choice>
        <mc:Fallback xmlns="">
          <p:sp>
            <p:nvSpPr>
              <p:cNvPr id="3" name="Content Placeholder 2">
                <a:extLst>
                  <a:ext uri="{FF2B5EF4-FFF2-40B4-BE49-F238E27FC236}">
                    <a16:creationId xmlns:a16="http://schemas.microsoft.com/office/drawing/2014/main" id="{5830642D-FCDE-A247-43EE-17DCD3F7A03B}"/>
                  </a:ext>
                </a:extLst>
              </p:cNvPr>
              <p:cNvSpPr>
                <a:spLocks noGrp="1" noRot="1" noChangeAspect="1" noMove="1" noResize="1" noEditPoints="1" noAdjustHandles="1" noChangeArrowheads="1" noChangeShapeType="1" noTextEdit="1"/>
              </p:cNvSpPr>
              <p:nvPr>
                <p:ph sz="half" idx="1"/>
              </p:nvPr>
            </p:nvSpPr>
            <p:spPr>
              <a:xfrm>
                <a:off x="838199" y="1825625"/>
                <a:ext cx="4435549" cy="4346575"/>
              </a:xfrm>
              <a:blipFill>
                <a:blip r:embed="rId3"/>
                <a:stretch>
                  <a:fillRect l="-2335" t="-2381" r="-1511"/>
                </a:stretch>
              </a:blipFill>
            </p:spPr>
            <p:txBody>
              <a:bodyPr/>
              <a:lstStyle/>
              <a:p>
                <a:r>
                  <a:rPr lang="en-US">
                    <a:noFill/>
                  </a:rPr>
                  <a:t> </a:t>
                </a:r>
              </a:p>
            </p:txBody>
          </p:sp>
        </mc:Fallback>
      </mc:AlternateContent>
      <p:pic>
        <p:nvPicPr>
          <p:cNvPr id="5" name="Graphic 4">
            <a:extLst>
              <a:ext uri="{FF2B5EF4-FFF2-40B4-BE49-F238E27FC236}">
                <a16:creationId xmlns:a16="http://schemas.microsoft.com/office/drawing/2014/main" id="{A487F688-0524-819F-8039-4958BF495BAC}"/>
              </a:ext>
            </a:extLst>
          </p:cNvPr>
          <p:cNvPicPr>
            <a:picLocks noChangeAspect="1"/>
          </p:cNvPicPr>
          <p:nvPr/>
        </p:nvPicPr>
        <p:blipFill>
          <a:blip r:embed="rId4">
            <a:extLst>
              <a:ext uri="{96DAC541-7B7A-43D3-8B79-37D633B846F1}">
                <asvg:svgBlip xmlns:asvg="http://schemas.microsoft.com/office/drawing/2016/SVG/main" r:embed="rId5" r:link="rId6"/>
              </a:ext>
            </a:extLst>
          </a:blip>
          <a:stretch>
            <a:fillRect/>
          </a:stretch>
        </p:blipFill>
        <p:spPr>
          <a:xfrm>
            <a:off x="5410200" y="685800"/>
            <a:ext cx="6400800" cy="5486400"/>
          </a:xfrm>
          <a:prstGeom prst="rect">
            <a:avLst/>
          </a:prstGeom>
        </p:spPr>
      </p:pic>
    </p:spTree>
    <p:extLst>
      <p:ext uri="{BB962C8B-B14F-4D97-AF65-F5344CB8AC3E}">
        <p14:creationId xmlns:p14="http://schemas.microsoft.com/office/powerpoint/2010/main" val="8084085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378C48-D247-4701-5FF4-5DAB99EEFF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AA382C-AA38-6C69-9D98-5DF317098294}"/>
              </a:ext>
            </a:extLst>
          </p:cNvPr>
          <p:cNvSpPr>
            <a:spLocks noGrp="1"/>
          </p:cNvSpPr>
          <p:nvPr>
            <p:ph type="title"/>
          </p:nvPr>
        </p:nvSpPr>
        <p:spPr>
          <a:xfrm>
            <a:off x="838200" y="365125"/>
            <a:ext cx="5112124" cy="1325563"/>
          </a:xfrm>
        </p:spPr>
        <p:txBody>
          <a:bodyPr/>
          <a:lstStyle/>
          <a:p>
            <a:r>
              <a:rPr lang="en-US" dirty="0"/>
              <a:t>Partial Charge Collection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68F4759-E6C0-BEA0-EB3B-43DA8D696E85}"/>
                  </a:ext>
                </a:extLst>
              </p:cNvPr>
              <p:cNvSpPr>
                <a:spLocks noGrp="1"/>
              </p:cNvSpPr>
              <p:nvPr>
                <p:ph sz="half" idx="1"/>
              </p:nvPr>
            </p:nvSpPr>
            <p:spPr>
              <a:xfrm>
                <a:off x="838201" y="1825625"/>
                <a:ext cx="3673288" cy="4729816"/>
              </a:xfrm>
            </p:spPr>
            <p:txBody>
              <a:bodyPr>
                <a:normAutofit fontScale="92500" lnSpcReduction="20000"/>
              </a:bodyPr>
              <a:lstStyle/>
              <a:p>
                <a:r>
                  <a:rPr lang="en-US" dirty="0"/>
                  <a:t>Photons are absorbed according to the Beer-Lambert law (red)</a:t>
                </a:r>
              </a:p>
              <a:p>
                <a:r>
                  <a:rPr lang="en-US" dirty="0"/>
                  <a:t>Photons absorbed in  PCC region lose some electrons</a:t>
                </a:r>
              </a:p>
              <a:p>
                <a:r>
                  <a:rPr lang="en-US" dirty="0"/>
                  <a:t>Charge-collection efficiency (CCE) is the fraction of charge measured.</a:t>
                </a:r>
              </a:p>
              <a:p>
                <a:r>
                  <a:rPr lang="en-US" dirty="0"/>
                  <a:t>Piecewise-linear differential CCE introduced by Stern et al. (1994)</a:t>
                </a:r>
              </a:p>
              <a:p>
                <a:pPr lvl="1"/>
                <a:r>
                  <a:rPr lang="en-US" b="0" dirty="0"/>
                  <a:t>Denoted </a:t>
                </a:r>
                <a14:m>
                  <m:oMath xmlns:m="http://schemas.openxmlformats.org/officeDocument/2006/math">
                    <m:r>
                      <a:rPr lang="en-US" b="0" i="1" smtClean="0">
                        <a:latin typeface="Cambria Math" panose="02040503050406030204" pitchFamily="18" charset="0"/>
                      </a:rPr>
                      <m:t>𝜂</m:t>
                    </m:r>
                    <m:r>
                      <a:rPr lang="en-US" b="0" i="1" smtClean="0">
                        <a:latin typeface="Cambria Math" panose="02040503050406030204" pitchFamily="18" charset="0"/>
                      </a:rPr>
                      <m:t>(</m:t>
                    </m:r>
                    <m:r>
                      <a:rPr lang="en-US" b="0" i="1" smtClean="0">
                        <a:latin typeface="Cambria Math" panose="02040503050406030204" pitchFamily="18" charset="0"/>
                      </a:rPr>
                      <m:t>𝑧</m:t>
                    </m:r>
                    <m:r>
                      <a:rPr lang="en-US" b="0" i="1" smtClean="0">
                        <a:latin typeface="Cambria Math" panose="02040503050406030204" pitchFamily="18" charset="0"/>
                      </a:rPr>
                      <m:t>)</m:t>
                    </m:r>
                  </m:oMath>
                </a14:m>
                <a:endParaRPr lang="en-US" dirty="0"/>
              </a:p>
            </p:txBody>
          </p:sp>
        </mc:Choice>
        <mc:Fallback xmlns="">
          <p:sp>
            <p:nvSpPr>
              <p:cNvPr id="3" name="Content Placeholder 2">
                <a:extLst>
                  <a:ext uri="{FF2B5EF4-FFF2-40B4-BE49-F238E27FC236}">
                    <a16:creationId xmlns:a16="http://schemas.microsoft.com/office/drawing/2014/main" id="{668F4759-E6C0-BEA0-EB3B-43DA8D696E85}"/>
                  </a:ext>
                </a:extLst>
              </p:cNvPr>
              <p:cNvSpPr>
                <a:spLocks noGrp="1" noRot="1" noChangeAspect="1" noMove="1" noResize="1" noEditPoints="1" noAdjustHandles="1" noChangeArrowheads="1" noChangeShapeType="1" noTextEdit="1"/>
              </p:cNvSpPr>
              <p:nvPr>
                <p:ph sz="half" idx="1"/>
              </p:nvPr>
            </p:nvSpPr>
            <p:spPr>
              <a:xfrm>
                <a:off x="838201" y="1825625"/>
                <a:ext cx="3673288" cy="4729816"/>
              </a:xfrm>
              <a:blipFill>
                <a:blip r:embed="rId3"/>
                <a:stretch>
                  <a:fillRect l="-2658" t="-3222" r="-1495" b="-1546"/>
                </a:stretch>
              </a:blipFill>
            </p:spPr>
            <p:txBody>
              <a:bodyPr/>
              <a:lstStyle/>
              <a:p>
                <a:r>
                  <a:rPr lang="en-US">
                    <a:noFill/>
                  </a:rPr>
                  <a:t> </a:t>
                </a:r>
              </a:p>
            </p:txBody>
          </p:sp>
        </mc:Fallback>
      </mc:AlternateContent>
      <p:pic>
        <p:nvPicPr>
          <p:cNvPr id="5" name="Graphic 4">
            <a:extLst>
              <a:ext uri="{FF2B5EF4-FFF2-40B4-BE49-F238E27FC236}">
                <a16:creationId xmlns:a16="http://schemas.microsoft.com/office/drawing/2014/main" id="{6C456AF0-A03C-FFCA-50D9-FFEDF1C673C5}"/>
              </a:ext>
            </a:extLst>
          </p:cNvPr>
          <p:cNvPicPr>
            <a:picLocks noChangeAspect="1"/>
          </p:cNvPicPr>
          <p:nvPr/>
        </p:nvPicPr>
        <p:blipFill>
          <a:blip r:embed="rId4">
            <a:extLst>
              <a:ext uri="{96DAC541-7B7A-43D3-8B79-37D633B846F1}">
                <asvg:svgBlip xmlns:asvg="http://schemas.microsoft.com/office/drawing/2016/SVG/main" r:embed="rId5" r:link="rId6"/>
              </a:ext>
            </a:extLst>
          </a:blip>
          <a:stretch>
            <a:fillRect/>
          </a:stretch>
        </p:blipFill>
        <p:spPr>
          <a:xfrm>
            <a:off x="4572000" y="850392"/>
            <a:ext cx="7315200" cy="5486400"/>
          </a:xfrm>
          <a:prstGeom prst="rect">
            <a:avLst/>
          </a:prstGeom>
        </p:spPr>
      </p:pic>
    </p:spTree>
    <p:extLst>
      <p:ext uri="{BB962C8B-B14F-4D97-AF65-F5344CB8AC3E}">
        <p14:creationId xmlns:p14="http://schemas.microsoft.com/office/powerpoint/2010/main" val="41854871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C5D67E-8BA0-0759-FA28-5DE20200B8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E9500B-CC6C-2F28-6FA6-6336DD97CF42}"/>
              </a:ext>
            </a:extLst>
          </p:cNvPr>
          <p:cNvSpPr>
            <a:spLocks noGrp="1"/>
          </p:cNvSpPr>
          <p:nvPr>
            <p:ph type="title"/>
          </p:nvPr>
        </p:nvSpPr>
        <p:spPr>
          <a:xfrm>
            <a:off x="838200" y="365125"/>
            <a:ext cx="4486835" cy="1325563"/>
          </a:xfrm>
        </p:spPr>
        <p:txBody>
          <a:bodyPr>
            <a:normAutofit fontScale="90000"/>
          </a:bodyPr>
          <a:lstStyle/>
          <a:p>
            <a:r>
              <a:rPr lang="en-US" dirty="0"/>
              <a:t>Average Charge-Collection Efficiency</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2B51899B-4031-E63E-52F0-D9B6F98C626D}"/>
                  </a:ext>
                </a:extLst>
              </p:cNvPr>
              <p:cNvSpPr>
                <a:spLocks noGrp="1"/>
              </p:cNvSpPr>
              <p:nvPr>
                <p:ph sz="half" idx="1"/>
              </p:nvPr>
            </p:nvSpPr>
            <p:spPr>
              <a:xfrm>
                <a:off x="838200" y="1825625"/>
                <a:ext cx="4224618" cy="4351338"/>
              </a:xfrm>
            </p:spPr>
            <p:txBody>
              <a:bodyPr/>
              <a:lstStyle/>
              <a:p>
                <a:r>
                  <a:rPr lang="en-US" dirty="0"/>
                  <a:t>Integrate Beer-Lambert law against </a:t>
                </a:r>
                <a14:m>
                  <m:oMath xmlns:m="http://schemas.openxmlformats.org/officeDocument/2006/math">
                    <m:r>
                      <a:rPr lang="en-US" i="1">
                        <a:latin typeface="Cambria Math" panose="02040503050406030204" pitchFamily="18" charset="0"/>
                      </a:rPr>
                      <m:t>𝜂</m:t>
                    </m:r>
                    <m:d>
                      <m:dPr>
                        <m:ctrlPr>
                          <a:rPr lang="en-US" i="1">
                            <a:latin typeface="Cambria Math" panose="02040503050406030204" pitchFamily="18" charset="0"/>
                          </a:rPr>
                        </m:ctrlPr>
                      </m:dPr>
                      <m:e>
                        <m:r>
                          <a:rPr lang="en-US" i="1">
                            <a:latin typeface="Cambria Math" panose="02040503050406030204" pitchFamily="18" charset="0"/>
                          </a:rPr>
                          <m:t>𝑧</m:t>
                        </m:r>
                      </m:e>
                    </m:d>
                  </m:oMath>
                </a14:m>
                <a:endParaRPr lang="en-US" dirty="0"/>
              </a:p>
              <a:p>
                <a:r>
                  <a:rPr lang="en-US" dirty="0"/>
                  <a:t>Average fraction of electrons that survived to be measured</a:t>
                </a:r>
              </a:p>
              <a:p>
                <a:endParaRPr lang="en-US" dirty="0"/>
              </a:p>
            </p:txBody>
          </p:sp>
        </mc:Choice>
        <mc:Fallback>
          <p:sp>
            <p:nvSpPr>
              <p:cNvPr id="3" name="Content Placeholder 2">
                <a:extLst>
                  <a:ext uri="{FF2B5EF4-FFF2-40B4-BE49-F238E27FC236}">
                    <a16:creationId xmlns:a16="http://schemas.microsoft.com/office/drawing/2014/main" id="{2B51899B-4031-E63E-52F0-D9B6F98C626D}"/>
                  </a:ext>
                </a:extLst>
              </p:cNvPr>
              <p:cNvSpPr>
                <a:spLocks noGrp="1" noRot="1" noChangeAspect="1" noMove="1" noResize="1" noEditPoints="1" noAdjustHandles="1" noChangeArrowheads="1" noChangeShapeType="1" noTextEdit="1"/>
              </p:cNvSpPr>
              <p:nvPr>
                <p:ph sz="half" idx="1"/>
              </p:nvPr>
            </p:nvSpPr>
            <p:spPr>
              <a:xfrm>
                <a:off x="838200" y="1825625"/>
                <a:ext cx="4224618" cy="4351338"/>
              </a:xfrm>
              <a:blipFill>
                <a:blip r:embed="rId3"/>
                <a:stretch>
                  <a:fillRect l="-2597" t="-2381"/>
                </a:stretch>
              </a:blipFill>
            </p:spPr>
            <p:txBody>
              <a:bodyPr/>
              <a:lstStyle/>
              <a:p>
                <a:r>
                  <a:rPr lang="en-US">
                    <a:noFill/>
                  </a:rPr>
                  <a:t> </a:t>
                </a:r>
              </a:p>
            </p:txBody>
          </p:sp>
        </mc:Fallback>
      </mc:AlternateContent>
      <p:pic>
        <p:nvPicPr>
          <p:cNvPr id="6" name="Graphic 5">
            <a:extLst>
              <a:ext uri="{FF2B5EF4-FFF2-40B4-BE49-F238E27FC236}">
                <a16:creationId xmlns:a16="http://schemas.microsoft.com/office/drawing/2014/main" id="{856B993A-8709-3FD4-9D49-AD255C53BAEA}"/>
              </a:ext>
            </a:extLst>
          </p:cNvPr>
          <p:cNvPicPr>
            <a:picLocks noChangeAspect="1"/>
          </p:cNvPicPr>
          <p:nvPr/>
        </p:nvPicPr>
        <p:blipFill>
          <a:blip r:embed="rId4">
            <a:extLst>
              <a:ext uri="{96DAC541-7B7A-43D3-8B79-37D633B846F1}">
                <asvg:svgBlip xmlns:asvg="http://schemas.microsoft.com/office/drawing/2016/SVG/main" r:embed="rId5" r:link="rId6"/>
              </a:ext>
            </a:extLst>
          </a:blip>
          <a:stretch>
            <a:fillRect/>
          </a:stretch>
        </p:blipFill>
        <p:spPr>
          <a:xfrm>
            <a:off x="5513832" y="685800"/>
            <a:ext cx="6400800" cy="5486400"/>
          </a:xfrm>
          <a:prstGeom prst="rect">
            <a:avLst/>
          </a:prstGeom>
        </p:spPr>
      </p:pic>
    </p:spTree>
    <p:extLst>
      <p:ext uri="{BB962C8B-B14F-4D97-AF65-F5344CB8AC3E}">
        <p14:creationId xmlns:p14="http://schemas.microsoft.com/office/powerpoint/2010/main" val="12887528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6AAD6D-7AEE-1361-B11A-0719B4D2E0E9}"/>
              </a:ext>
            </a:extLst>
          </p:cNvPr>
          <p:cNvSpPr>
            <a:spLocks noGrp="1"/>
          </p:cNvSpPr>
          <p:nvPr>
            <p:ph type="title"/>
          </p:nvPr>
        </p:nvSpPr>
        <p:spPr>
          <a:xfrm>
            <a:off x="838200" y="365125"/>
            <a:ext cx="7230341" cy="1325563"/>
          </a:xfrm>
        </p:spPr>
        <p:txBody>
          <a:bodyPr/>
          <a:lstStyle/>
          <a:p>
            <a:r>
              <a:rPr lang="en-US" dirty="0"/>
              <a:t>Quantum Efficiency</a:t>
            </a:r>
          </a:p>
        </p:txBody>
      </p:sp>
      <p:sp>
        <p:nvSpPr>
          <p:cNvPr id="3" name="Content Placeholder 2">
            <a:extLst>
              <a:ext uri="{FF2B5EF4-FFF2-40B4-BE49-F238E27FC236}">
                <a16:creationId xmlns:a16="http://schemas.microsoft.com/office/drawing/2014/main" id="{60D49009-07D9-902F-3028-2647DD892C3E}"/>
              </a:ext>
            </a:extLst>
          </p:cNvPr>
          <p:cNvSpPr>
            <a:spLocks noGrp="1"/>
          </p:cNvSpPr>
          <p:nvPr>
            <p:ph sz="half" idx="1"/>
          </p:nvPr>
        </p:nvSpPr>
        <p:spPr>
          <a:xfrm>
            <a:off x="838199" y="1825625"/>
            <a:ext cx="9059141" cy="4351338"/>
          </a:xfrm>
        </p:spPr>
        <p:txBody>
          <a:bodyPr/>
          <a:lstStyle/>
          <a:p>
            <a:r>
              <a:rPr lang="en-US" dirty="0"/>
              <a:t>Quantum Efficiency (QE) is the factor used to convert from incident photons to measured electrons</a:t>
            </a:r>
          </a:p>
          <a:p>
            <a:r>
              <a:rPr lang="en-US" dirty="0"/>
              <a:t>Product of absorbance, quantum yield and CCE</a:t>
            </a:r>
          </a:p>
          <a:p>
            <a:r>
              <a:rPr lang="en-US" dirty="0"/>
              <a:t>Allowed to be larger than one!</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6469371C-3BC2-FE97-218F-242839AE0919}"/>
                  </a:ext>
                </a:extLst>
              </p:cNvPr>
              <p:cNvSpPr txBox="1"/>
              <p:nvPr/>
            </p:nvSpPr>
            <p:spPr>
              <a:xfrm>
                <a:off x="4540010" y="3550951"/>
                <a:ext cx="1932132" cy="11879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nor/>
                        </m:rPr>
                        <a:rPr lang="en-US" sz="2800" b="0" i="0" smtClean="0">
                          <a:latin typeface="Cambria Math" panose="02040503050406030204" pitchFamily="18" charset="0"/>
                        </a:rPr>
                        <m:t>QE</m:t>
                      </m:r>
                      <m:r>
                        <a:rPr lang="en-US" sz="2800" b="0" i="1" smtClean="0">
                          <a:latin typeface="Cambria Math" panose="02040503050406030204" pitchFamily="18" charset="0"/>
                          <a:ea typeface="Cambria Math" panose="02040503050406030204" pitchFamily="18" charset="0"/>
                        </a:rPr>
                        <m:t>≡ </m:t>
                      </m:r>
                      <m:d>
                        <m:dPr>
                          <m:begChr m:val="⟨"/>
                          <m:endChr m:val="⟩"/>
                          <m:ctrlPr>
                            <a:rPr lang="en-US" sz="2800" b="0" i="1" smtClean="0">
                              <a:latin typeface="Cambria Math" panose="02040503050406030204" pitchFamily="18" charset="0"/>
                              <a:ea typeface="Cambria Math" panose="02040503050406030204" pitchFamily="18" charset="0"/>
                            </a:rPr>
                          </m:ctrlPr>
                        </m:dPr>
                        <m:e>
                          <m:f>
                            <m:fPr>
                              <m:ctrlPr>
                                <a:rPr lang="en-US" sz="2800" i="1">
                                  <a:latin typeface="Cambria Math" panose="02040503050406030204" pitchFamily="18" charset="0"/>
                                  <a:ea typeface="Cambria Math" panose="02040503050406030204" pitchFamily="18" charset="0"/>
                                </a:rPr>
                              </m:ctrlPr>
                            </m:fPr>
                            <m:num>
                              <m:sSub>
                                <m:sSubPr>
                                  <m:ctrlPr>
                                    <a:rPr lang="en-US" sz="2800" i="1">
                                      <a:latin typeface="Cambria Math" panose="02040503050406030204" pitchFamily="18" charset="0"/>
                                      <a:ea typeface="Cambria Math" panose="02040503050406030204" pitchFamily="18" charset="0"/>
                                    </a:rPr>
                                  </m:ctrlPr>
                                </m:sSubPr>
                                <m:e>
                                  <m:r>
                                    <a:rPr lang="en-US" sz="2800" i="1">
                                      <a:latin typeface="Cambria Math" panose="02040503050406030204" pitchFamily="18" charset="0"/>
                                      <a:ea typeface="Cambria Math" panose="02040503050406030204" pitchFamily="18" charset="0"/>
                                    </a:rPr>
                                    <m:t>𝑁</m:t>
                                  </m:r>
                                </m:e>
                                <m:sub>
                                  <m:r>
                                    <a:rPr lang="en-US" sz="2800" i="1">
                                      <a:latin typeface="Cambria Math" panose="02040503050406030204" pitchFamily="18" charset="0"/>
                                      <a:ea typeface="Cambria Math" panose="02040503050406030204" pitchFamily="18" charset="0"/>
                                    </a:rPr>
                                    <m:t>𝑒</m:t>
                                  </m:r>
                                </m:sub>
                              </m:sSub>
                            </m:num>
                            <m:den>
                              <m:sSub>
                                <m:sSubPr>
                                  <m:ctrlPr>
                                    <a:rPr lang="en-US" sz="2800" i="1">
                                      <a:latin typeface="Cambria Math" panose="02040503050406030204" pitchFamily="18" charset="0"/>
                                      <a:ea typeface="Cambria Math" panose="02040503050406030204" pitchFamily="18" charset="0"/>
                                    </a:rPr>
                                  </m:ctrlPr>
                                </m:sSubPr>
                                <m:e>
                                  <m:r>
                                    <a:rPr lang="en-US" sz="2800" i="1">
                                      <a:latin typeface="Cambria Math" panose="02040503050406030204" pitchFamily="18" charset="0"/>
                                      <a:ea typeface="Cambria Math" panose="02040503050406030204" pitchFamily="18" charset="0"/>
                                    </a:rPr>
                                    <m:t>𝑁</m:t>
                                  </m:r>
                                </m:e>
                                <m:sub>
                                  <m:r>
                                    <a:rPr lang="en-US" sz="2800" i="1">
                                      <a:latin typeface="Cambria Math" panose="02040503050406030204" pitchFamily="18" charset="0"/>
                                      <a:ea typeface="Cambria Math" panose="02040503050406030204" pitchFamily="18" charset="0"/>
                                    </a:rPr>
                                    <m:t>𝛾</m:t>
                                  </m:r>
                                </m:sub>
                              </m:sSub>
                            </m:den>
                          </m:f>
                        </m:e>
                      </m:d>
                    </m:oMath>
                  </m:oMathPara>
                </a14:m>
                <a:endParaRPr lang="en-US" sz="2800" b="0" dirty="0">
                  <a:ea typeface="Cambria Math" panose="02040503050406030204" pitchFamily="18" charset="0"/>
                </a:endParaRPr>
              </a:p>
            </p:txBody>
          </p:sp>
        </mc:Choice>
        <mc:Fallback xmlns="">
          <p:sp>
            <p:nvSpPr>
              <p:cNvPr id="4" name="TextBox 3">
                <a:extLst>
                  <a:ext uri="{FF2B5EF4-FFF2-40B4-BE49-F238E27FC236}">
                    <a16:creationId xmlns:a16="http://schemas.microsoft.com/office/drawing/2014/main" id="{6469371C-3BC2-FE97-218F-242839AE0919}"/>
                  </a:ext>
                </a:extLst>
              </p:cNvPr>
              <p:cNvSpPr txBox="1">
                <a:spLocks noRot="1" noChangeAspect="1" noMove="1" noResize="1" noEditPoints="1" noAdjustHandles="1" noChangeArrowheads="1" noChangeShapeType="1" noTextEdit="1"/>
              </p:cNvSpPr>
              <p:nvPr/>
            </p:nvSpPr>
            <p:spPr>
              <a:xfrm>
                <a:off x="4540010" y="3550951"/>
                <a:ext cx="1932132" cy="1187954"/>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FAC3B012-3A95-2F95-80FD-4DA91445B548}"/>
                  </a:ext>
                </a:extLst>
              </p:cNvPr>
              <p:cNvSpPr txBox="1"/>
              <p:nvPr/>
            </p:nvSpPr>
            <p:spPr>
              <a:xfrm>
                <a:off x="5081397" y="4738905"/>
                <a:ext cx="2493440"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m:t>
                      </m:r>
                      <m:r>
                        <m:rPr>
                          <m:nor/>
                        </m:rPr>
                        <a:rPr lang="en-US" sz="2800" b="0" i="0" smtClean="0">
                          <a:latin typeface="Cambria Math" panose="02040503050406030204" pitchFamily="18" charset="0"/>
                          <a:ea typeface="Cambria Math" panose="02040503050406030204" pitchFamily="18" charset="0"/>
                        </a:rPr>
                        <m:t>A</m:t>
                      </m:r>
                      <m:r>
                        <a:rPr lang="en-US" sz="2800" i="1">
                          <a:latin typeface="Cambria Math" panose="02040503050406030204" pitchFamily="18" charset="0"/>
                          <a:ea typeface="Cambria Math" panose="02040503050406030204" pitchFamily="18" charset="0"/>
                        </a:rPr>
                        <m:t>×</m:t>
                      </m:r>
                      <m:r>
                        <m:rPr>
                          <m:nor/>
                        </m:rPr>
                        <a:rPr lang="en-US" sz="2800" b="0" i="0" smtClean="0">
                          <a:latin typeface="Cambria Math" panose="02040503050406030204" pitchFamily="18" charset="0"/>
                        </a:rPr>
                        <m:t>n</m:t>
                      </m:r>
                      <m:r>
                        <a:rPr lang="en-US" sz="2800" b="0" i="1" smtClean="0">
                          <a:latin typeface="Cambria Math" panose="02040503050406030204" pitchFamily="18" charset="0"/>
                          <a:ea typeface="Cambria Math" panose="02040503050406030204" pitchFamily="18" charset="0"/>
                        </a:rPr>
                        <m:t>×</m:t>
                      </m:r>
                      <m:r>
                        <m:rPr>
                          <m:nor/>
                        </m:rPr>
                        <a:rPr lang="en-US" sz="2800" b="0" i="0" smtClean="0">
                          <a:latin typeface="Cambria Math" panose="02040503050406030204" pitchFamily="18" charset="0"/>
                          <a:ea typeface="Cambria Math" panose="02040503050406030204" pitchFamily="18" charset="0"/>
                        </a:rPr>
                        <m:t>CCE</m:t>
                      </m:r>
                    </m:oMath>
                  </m:oMathPara>
                </a14:m>
                <a:endParaRPr lang="en-US" sz="2800" dirty="0"/>
              </a:p>
            </p:txBody>
          </p:sp>
        </mc:Choice>
        <mc:Fallback xmlns="">
          <p:sp>
            <p:nvSpPr>
              <p:cNvPr id="5" name="TextBox 4">
                <a:extLst>
                  <a:ext uri="{FF2B5EF4-FFF2-40B4-BE49-F238E27FC236}">
                    <a16:creationId xmlns:a16="http://schemas.microsoft.com/office/drawing/2014/main" id="{FAC3B012-3A95-2F95-80FD-4DA91445B548}"/>
                  </a:ext>
                </a:extLst>
              </p:cNvPr>
              <p:cNvSpPr txBox="1">
                <a:spLocks noRot="1" noChangeAspect="1" noMove="1" noResize="1" noEditPoints="1" noAdjustHandles="1" noChangeArrowheads="1" noChangeShapeType="1" noTextEdit="1"/>
              </p:cNvSpPr>
              <p:nvPr/>
            </p:nvSpPr>
            <p:spPr>
              <a:xfrm>
                <a:off x="5081397" y="4738905"/>
                <a:ext cx="2493440" cy="523220"/>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294628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193138-E64E-426A-6D40-1C75B6CD1DEE}"/>
              </a:ext>
            </a:extLst>
          </p:cNvPr>
          <p:cNvSpPr>
            <a:spLocks noGrp="1"/>
          </p:cNvSpPr>
          <p:nvPr>
            <p:ph type="title"/>
          </p:nvPr>
        </p:nvSpPr>
        <p:spPr>
          <a:xfrm>
            <a:off x="838200" y="365125"/>
            <a:ext cx="4635759" cy="1325563"/>
          </a:xfrm>
        </p:spPr>
        <p:txBody>
          <a:bodyPr/>
          <a:lstStyle/>
          <a:p>
            <a:r>
              <a:rPr lang="en-US" dirty="0"/>
              <a:t>Effective Quantum Efficiency (EQE)</a:t>
            </a:r>
          </a:p>
        </p:txBody>
      </p:sp>
      <p:sp>
        <p:nvSpPr>
          <p:cNvPr id="3" name="Content Placeholder 2">
            <a:extLst>
              <a:ext uri="{FF2B5EF4-FFF2-40B4-BE49-F238E27FC236}">
                <a16:creationId xmlns:a16="http://schemas.microsoft.com/office/drawing/2014/main" id="{235EE86D-593C-CA2C-011C-B3F1A5F01C78}"/>
              </a:ext>
            </a:extLst>
          </p:cNvPr>
          <p:cNvSpPr>
            <a:spLocks noGrp="1"/>
          </p:cNvSpPr>
          <p:nvPr>
            <p:ph idx="1"/>
          </p:nvPr>
        </p:nvSpPr>
        <p:spPr>
          <a:xfrm>
            <a:off x="838200" y="2929811"/>
            <a:ext cx="4455367" cy="3247151"/>
          </a:xfrm>
        </p:spPr>
        <p:txBody>
          <a:bodyPr/>
          <a:lstStyle/>
          <a:p>
            <a:r>
              <a:rPr lang="en-US" dirty="0"/>
              <a:t>Measured quantity</a:t>
            </a:r>
          </a:p>
          <a:p>
            <a:pPr lvl="1"/>
            <a:r>
              <a:rPr lang="en-US" dirty="0"/>
              <a:t>Compare sensor to NIST photodiode</a:t>
            </a:r>
          </a:p>
          <a:p>
            <a:r>
              <a:rPr lang="en-US" dirty="0"/>
              <a:t>Between 0 and 1</a:t>
            </a:r>
          </a:p>
          <a:p>
            <a:r>
              <a:rPr lang="en-US" dirty="0"/>
              <a:t>Often used to compute QE</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607FC0AC-1E43-6ADC-BD65-F2672D310707}"/>
                  </a:ext>
                </a:extLst>
              </p:cNvPr>
              <p:cNvSpPr txBox="1"/>
              <p:nvPr/>
            </p:nvSpPr>
            <p:spPr>
              <a:xfrm>
                <a:off x="778596" y="2048639"/>
                <a:ext cx="4378122"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nor/>
                        </m:rPr>
                        <a:rPr lang="en-US" sz="2800" b="0" i="0" smtClean="0">
                          <a:latin typeface="Cambria Math" panose="02040503050406030204" pitchFamily="18" charset="0"/>
                        </a:rPr>
                        <m:t>EQE</m:t>
                      </m:r>
                      <m:r>
                        <a:rPr lang="en-US" sz="2800" b="0" i="1" smtClean="0">
                          <a:latin typeface="Cambria Math" panose="02040503050406030204" pitchFamily="18" charset="0"/>
                        </a:rPr>
                        <m:t>=</m:t>
                      </m:r>
                      <m:r>
                        <m:rPr>
                          <m:nor/>
                        </m:rPr>
                        <a:rPr lang="en-US" sz="2800" b="0" i="0" smtClean="0">
                          <a:latin typeface="Cambria Math" panose="02040503050406030204" pitchFamily="18" charset="0"/>
                          <a:ea typeface="Cambria Math" panose="02040503050406030204" pitchFamily="18" charset="0"/>
                        </a:rPr>
                        <m:t>CCE</m:t>
                      </m:r>
                      <m:r>
                        <m:rPr>
                          <m:nor/>
                        </m:rPr>
                        <a:rPr lang="en-US" sz="2800" b="0" i="0" smtClean="0">
                          <a:latin typeface="Cambria Math" panose="02040503050406030204" pitchFamily="18" charset="0"/>
                          <a:ea typeface="Cambria Math" panose="02040503050406030204" pitchFamily="18" charset="0"/>
                        </a:rPr>
                        <m:t> </m:t>
                      </m:r>
                      <m:r>
                        <a:rPr lang="en-US" sz="2800" b="0" i="1" smtClean="0">
                          <a:latin typeface="Cambria Math" panose="02040503050406030204" pitchFamily="18" charset="0"/>
                          <a:ea typeface="Cambria Math" panose="02040503050406030204" pitchFamily="18" charset="0"/>
                        </a:rPr>
                        <m:t>× </m:t>
                      </m:r>
                      <m:r>
                        <m:rPr>
                          <m:nor/>
                        </m:rPr>
                        <a:rPr lang="en-US" sz="2800" b="0" i="0" smtClean="0">
                          <a:latin typeface="Cambria Math" panose="02040503050406030204" pitchFamily="18" charset="0"/>
                          <a:ea typeface="Cambria Math" panose="02040503050406030204" pitchFamily="18" charset="0"/>
                        </a:rPr>
                        <m:t>Absorbance</m:t>
                      </m:r>
                    </m:oMath>
                  </m:oMathPara>
                </a14:m>
                <a:endParaRPr lang="en-US" sz="2800" b="0" dirty="0">
                  <a:ea typeface="Cambria Math" panose="02040503050406030204" pitchFamily="18" charset="0"/>
                </a:endParaRPr>
              </a:p>
            </p:txBody>
          </p:sp>
        </mc:Choice>
        <mc:Fallback xmlns="">
          <p:sp>
            <p:nvSpPr>
              <p:cNvPr id="4" name="TextBox 3">
                <a:extLst>
                  <a:ext uri="{FF2B5EF4-FFF2-40B4-BE49-F238E27FC236}">
                    <a16:creationId xmlns:a16="http://schemas.microsoft.com/office/drawing/2014/main" id="{607FC0AC-1E43-6ADC-BD65-F2672D310707}"/>
                  </a:ext>
                </a:extLst>
              </p:cNvPr>
              <p:cNvSpPr txBox="1">
                <a:spLocks noRot="1" noChangeAspect="1" noMove="1" noResize="1" noEditPoints="1" noAdjustHandles="1" noChangeArrowheads="1" noChangeShapeType="1" noTextEdit="1"/>
              </p:cNvSpPr>
              <p:nvPr/>
            </p:nvSpPr>
            <p:spPr>
              <a:xfrm>
                <a:off x="778596" y="2048639"/>
                <a:ext cx="4378122" cy="523220"/>
              </a:xfrm>
              <a:prstGeom prst="rect">
                <a:avLst/>
              </a:prstGeom>
              <a:blipFill>
                <a:blip r:embed="rId4"/>
                <a:stretch>
                  <a:fillRect/>
                </a:stretch>
              </a:blipFill>
            </p:spPr>
            <p:txBody>
              <a:bodyPr/>
              <a:lstStyle/>
              <a:p>
                <a:r>
                  <a:rPr lang="en-US">
                    <a:noFill/>
                  </a:rPr>
                  <a:t> </a:t>
                </a:r>
              </a:p>
            </p:txBody>
          </p:sp>
        </mc:Fallback>
      </mc:AlternateContent>
      <p:pic>
        <p:nvPicPr>
          <p:cNvPr id="9" name="Graphic 8">
            <a:extLst>
              <a:ext uri="{FF2B5EF4-FFF2-40B4-BE49-F238E27FC236}">
                <a16:creationId xmlns:a16="http://schemas.microsoft.com/office/drawing/2014/main" id="{82107721-46AE-0794-A5B6-EDE95D4D74D4}"/>
              </a:ext>
            </a:extLst>
          </p:cNvPr>
          <p:cNvPicPr>
            <a:picLocks noChangeAspect="1"/>
          </p:cNvPicPr>
          <p:nvPr/>
        </p:nvPicPr>
        <p:blipFill>
          <a:blip r:embed="rId5">
            <a:extLst>
              <a:ext uri="{96DAC541-7B7A-43D3-8B79-37D633B846F1}">
                <asvg:svgBlip xmlns:asvg="http://schemas.microsoft.com/office/drawing/2016/SVG/main" r:embed="rId6" r:link="rId7"/>
              </a:ext>
            </a:extLst>
          </a:blip>
          <a:stretch>
            <a:fillRect/>
          </a:stretch>
        </p:blipFill>
        <p:spPr>
          <a:xfrm>
            <a:off x="5513832" y="685800"/>
            <a:ext cx="6400800" cy="5486400"/>
          </a:xfrm>
          <a:prstGeom prst="rect">
            <a:avLst/>
          </a:prstGeom>
        </p:spPr>
      </p:pic>
    </p:spTree>
    <p:extLst>
      <p:ext uri="{BB962C8B-B14F-4D97-AF65-F5344CB8AC3E}">
        <p14:creationId xmlns:p14="http://schemas.microsoft.com/office/powerpoint/2010/main" val="24972954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0F0786-A948-0900-BA6F-4227148371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0D825C-1640-7CAD-6D66-D11BF0070532}"/>
              </a:ext>
            </a:extLst>
          </p:cNvPr>
          <p:cNvSpPr>
            <a:spLocks noGrp="1"/>
          </p:cNvSpPr>
          <p:nvPr>
            <p:ph type="title"/>
          </p:nvPr>
        </p:nvSpPr>
        <p:spPr>
          <a:xfrm>
            <a:off x="838200" y="2766218"/>
            <a:ext cx="10515600" cy="1325563"/>
          </a:xfrm>
        </p:spPr>
        <p:txBody>
          <a:bodyPr/>
          <a:lstStyle/>
          <a:p>
            <a:pPr algn="ctr"/>
            <a:r>
              <a:rPr lang="en-US" dirty="0"/>
              <a:t>Noise</a:t>
            </a:r>
          </a:p>
        </p:txBody>
      </p:sp>
    </p:spTree>
    <p:extLst>
      <p:ext uri="{BB962C8B-B14F-4D97-AF65-F5344CB8AC3E}">
        <p14:creationId xmlns:p14="http://schemas.microsoft.com/office/powerpoint/2010/main" val="115175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FE1989-0D6C-B74B-A38D-54484D2F9960}"/>
              </a:ext>
            </a:extLst>
          </p:cNvPr>
          <p:cNvSpPr>
            <a:spLocks noGrp="1"/>
          </p:cNvSpPr>
          <p:nvPr>
            <p:ph type="title"/>
          </p:nvPr>
        </p:nvSpPr>
        <p:spPr/>
        <p:txBody>
          <a:bodyPr/>
          <a:lstStyle/>
          <a:p>
            <a:r>
              <a:rPr lang="en-US" dirty="0"/>
              <a:t>Variance-to-mean ratio</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C2606C73-BD8F-D610-E9BD-79FA63133E3F}"/>
                  </a:ext>
                </a:extLst>
              </p:cNvPr>
              <p:cNvSpPr>
                <a:spLocks noGrp="1"/>
              </p:cNvSpPr>
              <p:nvPr>
                <p:ph idx="1"/>
              </p:nvPr>
            </p:nvSpPr>
            <p:spPr>
              <a:xfrm>
                <a:off x="838200" y="3512127"/>
                <a:ext cx="10515600" cy="2664836"/>
              </a:xfrm>
            </p:spPr>
            <p:txBody>
              <a:bodyPr/>
              <a:lstStyle/>
              <a:p>
                <a:r>
                  <a:rPr lang="en-US" dirty="0"/>
                  <a:t>Convenient measure of noise</a:t>
                </a:r>
              </a:p>
              <a:p>
                <a:pPr lvl="1"/>
                <a:r>
                  <a:rPr lang="en-US" dirty="0"/>
                  <a:t>If </a:t>
                </a:r>
                <a14:m>
                  <m:oMath xmlns:m="http://schemas.openxmlformats.org/officeDocument/2006/math">
                    <m:r>
                      <a:rPr lang="en-US" b="0" i="1" smtClean="0">
                        <a:latin typeface="Cambria Math" panose="02040503050406030204" pitchFamily="18" charset="0"/>
                      </a:rPr>
                      <m:t>𝑋</m:t>
                    </m:r>
                  </m:oMath>
                </a14:m>
                <a:r>
                  <a:rPr lang="en-US" dirty="0"/>
                  <a:t> is Poisson-distributed, </a:t>
                </a:r>
                <a14:m>
                  <m:oMath xmlns:m="http://schemas.openxmlformats.org/officeDocument/2006/math">
                    <m:r>
                      <m:rPr>
                        <m:nor/>
                      </m:rPr>
                      <a:rPr lang="en-US" b="0" i="0" smtClean="0">
                        <a:latin typeface="Cambria Math" panose="02040503050406030204" pitchFamily="18" charset="0"/>
                      </a:rPr>
                      <m:t>VMR</m:t>
                    </m:r>
                    <m:d>
                      <m:dPr>
                        <m:ctrlPr>
                          <a:rPr lang="en-US" b="0" i="1" smtClean="0">
                            <a:latin typeface="Cambria Math" panose="02040503050406030204" pitchFamily="18" charset="0"/>
                          </a:rPr>
                        </m:ctrlPr>
                      </m:dPr>
                      <m:e>
                        <m:r>
                          <a:rPr lang="en-US" b="0" i="1" smtClean="0">
                            <a:latin typeface="Cambria Math" panose="02040503050406030204" pitchFamily="18" charset="0"/>
                          </a:rPr>
                          <m:t>𝑋</m:t>
                        </m:r>
                      </m:e>
                    </m:d>
                    <m:r>
                      <a:rPr lang="en-US" b="0" i="1" smtClean="0">
                        <a:latin typeface="Cambria Math" panose="02040503050406030204" pitchFamily="18" charset="0"/>
                      </a:rPr>
                      <m:t>=1</m:t>
                    </m:r>
                  </m:oMath>
                </a14:m>
                <a:endParaRPr lang="en-US" dirty="0"/>
              </a:p>
              <a:p>
                <a:r>
                  <a:rPr lang="en-US" dirty="0"/>
                  <a:t>Constant vs. signal, unlike SNR</a:t>
                </a:r>
              </a:p>
              <a:p>
                <a:r>
                  <a:rPr lang="en-US" dirty="0"/>
                  <a:t>Equal to the slope of the photon-transfer curve</a:t>
                </a:r>
              </a:p>
            </p:txBody>
          </p:sp>
        </mc:Choice>
        <mc:Fallback>
          <p:sp>
            <p:nvSpPr>
              <p:cNvPr id="3" name="Content Placeholder 2">
                <a:extLst>
                  <a:ext uri="{FF2B5EF4-FFF2-40B4-BE49-F238E27FC236}">
                    <a16:creationId xmlns:a16="http://schemas.microsoft.com/office/drawing/2014/main" id="{C2606C73-BD8F-D610-E9BD-79FA63133E3F}"/>
                  </a:ext>
                </a:extLst>
              </p:cNvPr>
              <p:cNvSpPr>
                <a:spLocks noGrp="1" noRot="1" noChangeAspect="1" noMove="1" noResize="1" noEditPoints="1" noAdjustHandles="1" noChangeArrowheads="1" noChangeShapeType="1" noTextEdit="1"/>
              </p:cNvSpPr>
              <p:nvPr>
                <p:ph idx="1"/>
              </p:nvPr>
            </p:nvSpPr>
            <p:spPr>
              <a:xfrm>
                <a:off x="838200" y="3512127"/>
                <a:ext cx="10515600" cy="2664836"/>
              </a:xfrm>
              <a:blipFill>
                <a:blip r:embed="rId3"/>
                <a:stretch>
                  <a:fillRect l="-1043" t="-38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D9492592-C859-F944-239A-84CD52898D88}"/>
                  </a:ext>
                </a:extLst>
              </p:cNvPr>
              <p:cNvSpPr txBox="1"/>
              <p:nvPr/>
            </p:nvSpPr>
            <p:spPr>
              <a:xfrm>
                <a:off x="4519799" y="1823605"/>
                <a:ext cx="3152401" cy="98642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nor/>
                        </m:rPr>
                        <a:rPr lang="en-US" sz="2800" b="0" i="0" smtClean="0">
                          <a:latin typeface="Cambria Math" panose="02040503050406030204" pitchFamily="18" charset="0"/>
                        </a:rPr>
                        <m:t>VMR</m:t>
                      </m:r>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𝑋</m:t>
                          </m:r>
                        </m:e>
                      </m:d>
                      <m:r>
                        <a:rPr lang="en-US" sz="2800" b="0" i="1" smtClean="0">
                          <a:latin typeface="Cambria Math" panose="02040503050406030204" pitchFamily="18" charset="0"/>
                        </a:rPr>
                        <m:t>= </m:t>
                      </m:r>
                      <m:f>
                        <m:fPr>
                          <m:ctrlPr>
                            <a:rPr lang="en-US" sz="2800" b="0" i="1" smtClean="0">
                              <a:latin typeface="Cambria Math" panose="02040503050406030204" pitchFamily="18" charset="0"/>
                            </a:rPr>
                          </m:ctrlPr>
                        </m:fPr>
                        <m:num>
                          <m:r>
                            <m:rPr>
                              <m:nor/>
                            </m:rPr>
                            <a:rPr lang="en-US" sz="2800" b="0" i="0" smtClean="0">
                              <a:latin typeface="Cambria Math" panose="02040503050406030204" pitchFamily="18" charset="0"/>
                            </a:rPr>
                            <m:t>Var</m:t>
                          </m:r>
                          <m:r>
                            <a:rPr lang="en-US" sz="2800" b="0" i="1" smtClean="0">
                              <a:latin typeface="Cambria Math" panose="02040503050406030204" pitchFamily="18" charset="0"/>
                            </a:rPr>
                            <m:t>(</m:t>
                          </m:r>
                          <m:r>
                            <a:rPr lang="en-US" sz="2800" b="0" i="1" smtClean="0">
                              <a:latin typeface="Cambria Math" panose="02040503050406030204" pitchFamily="18" charset="0"/>
                            </a:rPr>
                            <m:t>𝑋</m:t>
                          </m:r>
                          <m:r>
                            <a:rPr lang="en-US" sz="2800" b="0" i="1" smtClean="0">
                              <a:latin typeface="Cambria Math" panose="02040503050406030204" pitchFamily="18" charset="0"/>
                            </a:rPr>
                            <m:t>)</m:t>
                          </m:r>
                        </m:num>
                        <m:den>
                          <m:d>
                            <m:dPr>
                              <m:begChr m:val="⟨"/>
                              <m:endChr m:val="⟩"/>
                              <m:ctrlPr>
                                <a:rPr lang="en-US" sz="2800" b="0" i="1" smtClean="0">
                                  <a:latin typeface="Cambria Math" panose="02040503050406030204" pitchFamily="18" charset="0"/>
                                </a:rPr>
                              </m:ctrlPr>
                            </m:dPr>
                            <m:e>
                              <m:r>
                                <a:rPr lang="en-US" sz="2800" b="0" i="1" smtClean="0">
                                  <a:latin typeface="Cambria Math" panose="02040503050406030204" pitchFamily="18" charset="0"/>
                                </a:rPr>
                                <m:t>𝑋</m:t>
                              </m:r>
                            </m:e>
                          </m:d>
                        </m:den>
                      </m:f>
                    </m:oMath>
                  </m:oMathPara>
                </a14:m>
                <a:endParaRPr lang="en-US" sz="2800" dirty="0"/>
              </a:p>
            </p:txBody>
          </p:sp>
        </mc:Choice>
        <mc:Fallback xmlns="">
          <p:sp>
            <p:nvSpPr>
              <p:cNvPr id="4" name="TextBox 3">
                <a:extLst>
                  <a:ext uri="{FF2B5EF4-FFF2-40B4-BE49-F238E27FC236}">
                    <a16:creationId xmlns:a16="http://schemas.microsoft.com/office/drawing/2014/main" id="{D9492592-C859-F944-239A-84CD52898D88}"/>
                  </a:ext>
                </a:extLst>
              </p:cNvPr>
              <p:cNvSpPr txBox="1">
                <a:spLocks noRot="1" noChangeAspect="1" noMove="1" noResize="1" noEditPoints="1" noAdjustHandles="1" noChangeArrowheads="1" noChangeShapeType="1" noTextEdit="1"/>
              </p:cNvSpPr>
              <p:nvPr/>
            </p:nvSpPr>
            <p:spPr>
              <a:xfrm>
                <a:off x="4519799" y="1823605"/>
                <a:ext cx="3152401" cy="986424"/>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25212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D6DB42-C351-403F-F001-50C62F5506DF}"/>
              </a:ext>
            </a:extLst>
          </p:cNvPr>
          <p:cNvSpPr>
            <a:spLocks noGrp="1"/>
          </p:cNvSpPr>
          <p:nvPr>
            <p:ph type="title"/>
          </p:nvPr>
        </p:nvSpPr>
        <p:spPr/>
        <p:txBody>
          <a:bodyPr/>
          <a:lstStyle/>
          <a:p>
            <a:r>
              <a:rPr lang="en-US" dirty="0"/>
              <a:t>Simple Noise Model</a:t>
            </a:r>
          </a:p>
        </p:txBody>
      </p:sp>
      <p:sp>
        <p:nvSpPr>
          <p:cNvPr id="3" name="Content Placeholder 2">
            <a:extLst>
              <a:ext uri="{FF2B5EF4-FFF2-40B4-BE49-F238E27FC236}">
                <a16:creationId xmlns:a16="http://schemas.microsoft.com/office/drawing/2014/main" id="{6658544B-49BF-4D8D-5FB6-D3ABB56FF3CB}"/>
              </a:ext>
            </a:extLst>
          </p:cNvPr>
          <p:cNvSpPr>
            <a:spLocks noGrp="1"/>
          </p:cNvSpPr>
          <p:nvPr>
            <p:ph idx="1"/>
          </p:nvPr>
        </p:nvSpPr>
        <p:spPr>
          <a:xfrm>
            <a:off x="838200" y="1548244"/>
            <a:ext cx="4579776" cy="2023091"/>
          </a:xfrm>
        </p:spPr>
        <p:txBody>
          <a:bodyPr>
            <a:normAutofit fontScale="92500" lnSpcReduction="10000"/>
          </a:bodyPr>
          <a:lstStyle/>
          <a:p>
            <a:r>
              <a:rPr lang="en-US" dirty="0"/>
              <a:t>Used by IRIS and WFC3</a:t>
            </a:r>
          </a:p>
          <a:p>
            <a:r>
              <a:rPr lang="en-US" dirty="0"/>
              <a:t>Number of measured photons proportional to EQE</a:t>
            </a:r>
          </a:p>
          <a:p>
            <a:r>
              <a:rPr lang="en-US" dirty="0"/>
              <a:t>All-or-nothing charge collection</a:t>
            </a:r>
          </a:p>
        </p:txBody>
      </p:sp>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F329CA8C-26EF-E7B6-0B12-266D9B4DF1C8}"/>
                  </a:ext>
                </a:extLst>
              </p:cNvPr>
              <p:cNvSpPr txBox="1"/>
              <p:nvPr/>
            </p:nvSpPr>
            <p:spPr>
              <a:xfrm>
                <a:off x="1220354" y="4549775"/>
                <a:ext cx="3336105" cy="96917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800" i="1" smtClean="0">
                              <a:latin typeface="Cambria Math" panose="02040503050406030204" pitchFamily="18" charset="0"/>
                            </a:rPr>
                          </m:ctrlPr>
                        </m:sSubPr>
                        <m:e>
                          <m:r>
                            <a:rPr lang="en-US" sz="2800" b="0" i="1" smtClean="0">
                              <a:latin typeface="Cambria Math" panose="02040503050406030204" pitchFamily="18" charset="0"/>
                            </a:rPr>
                            <m:t>𝜎</m:t>
                          </m:r>
                        </m:e>
                        <m:sub>
                          <m:sSub>
                            <m:sSubPr>
                              <m:ctrlPr>
                                <a:rPr lang="en-US" sz="2800" i="1" smtClean="0">
                                  <a:latin typeface="Cambria Math" panose="02040503050406030204" pitchFamily="18" charset="0"/>
                                </a:rPr>
                              </m:ctrlPr>
                            </m:sSubPr>
                            <m:e>
                              <m:r>
                                <a:rPr lang="en-US" sz="2800" b="0" i="1" smtClean="0">
                                  <a:latin typeface="Cambria Math" panose="02040503050406030204" pitchFamily="18" charset="0"/>
                                </a:rPr>
                                <m:t>𝑁</m:t>
                              </m:r>
                            </m:e>
                            <m:sub>
                              <m:r>
                                <a:rPr lang="en-US" sz="2800" b="0" i="1" smtClean="0">
                                  <a:latin typeface="Cambria Math" panose="02040503050406030204" pitchFamily="18" charset="0"/>
                                  <a:ea typeface="Cambria Math" panose="02040503050406030204" pitchFamily="18" charset="0"/>
                                </a:rPr>
                                <m:t>𝛾</m:t>
                              </m:r>
                            </m:sub>
                          </m:sSub>
                        </m:sub>
                      </m:sSub>
                      <m:r>
                        <a:rPr lang="en-US" sz="2800" b="0" i="1" smtClean="0">
                          <a:latin typeface="Cambria Math" panose="02040503050406030204" pitchFamily="18" charset="0"/>
                        </a:rPr>
                        <m:t>=</m:t>
                      </m:r>
                      <m:rad>
                        <m:radPr>
                          <m:degHide m:val="on"/>
                          <m:ctrlPr>
                            <a:rPr lang="en-US" sz="2800" b="0" i="1" smtClean="0">
                              <a:latin typeface="Cambria Math" panose="02040503050406030204" pitchFamily="18" charset="0"/>
                            </a:rPr>
                          </m:ctrlPr>
                        </m:radPr>
                        <m:deg/>
                        <m:e>
                          <m:r>
                            <m:rPr>
                              <m:nor/>
                            </m:rPr>
                            <a:rPr lang="en-US" sz="2800" b="0" i="0" smtClean="0">
                              <a:latin typeface="Cambria Math" panose="02040503050406030204" pitchFamily="18" charset="0"/>
                            </a:rPr>
                            <m:t>EQE</m:t>
                          </m:r>
                          <m:r>
                            <a:rPr lang="en-US" sz="2800" b="0" i="1" smtClean="0">
                              <a:latin typeface="Cambria Math" panose="02040503050406030204" pitchFamily="18" charset="0"/>
                              <a:ea typeface="Cambria Math" panose="02040503050406030204" pitchFamily="18" charset="0"/>
                            </a:rPr>
                            <m:t>×</m:t>
                          </m:r>
                          <m:d>
                            <m:dPr>
                              <m:begChr m:val="⟨"/>
                              <m:endChr m:val="⟩"/>
                              <m:ctrlPr>
                                <a:rPr lang="en-US" sz="2800" b="0" i="1" smtClean="0">
                                  <a:latin typeface="Cambria Math" panose="02040503050406030204" pitchFamily="18" charset="0"/>
                                  <a:ea typeface="Cambria Math" panose="02040503050406030204" pitchFamily="18" charset="0"/>
                                </a:rPr>
                              </m:ctrlPr>
                            </m:dPr>
                            <m:e>
                              <m:sSub>
                                <m:sSubPr>
                                  <m:ctrlPr>
                                    <a:rPr lang="en-US" sz="2800" b="0" i="1" smtClean="0">
                                      <a:latin typeface="Cambria Math" panose="02040503050406030204" pitchFamily="18" charset="0"/>
                                      <a:ea typeface="Cambria Math" panose="02040503050406030204" pitchFamily="18" charset="0"/>
                                    </a:rPr>
                                  </m:ctrlPr>
                                </m:sSubPr>
                                <m:e>
                                  <m:r>
                                    <a:rPr lang="en-US" sz="2800" b="0" i="1" smtClean="0">
                                      <a:latin typeface="Cambria Math" panose="02040503050406030204" pitchFamily="18" charset="0"/>
                                      <a:ea typeface="Cambria Math" panose="02040503050406030204" pitchFamily="18" charset="0"/>
                                    </a:rPr>
                                    <m:t>𝑁</m:t>
                                  </m:r>
                                </m:e>
                                <m:sub>
                                  <m:r>
                                    <a:rPr lang="en-US" sz="2800" b="0" i="1" smtClean="0">
                                      <a:latin typeface="Cambria Math" panose="02040503050406030204" pitchFamily="18" charset="0"/>
                                      <a:ea typeface="Cambria Math" panose="02040503050406030204" pitchFamily="18" charset="0"/>
                                    </a:rPr>
                                    <m:t>𝛾</m:t>
                                  </m:r>
                                </m:sub>
                              </m:sSub>
                            </m:e>
                          </m:d>
                        </m:e>
                      </m:rad>
                    </m:oMath>
                  </m:oMathPara>
                </a14:m>
                <a:endParaRPr lang="en-US" sz="2800" dirty="0"/>
              </a:p>
            </p:txBody>
          </p:sp>
        </mc:Choice>
        <mc:Fallback>
          <p:sp>
            <p:nvSpPr>
              <p:cNvPr id="5" name="TextBox 4">
                <a:extLst>
                  <a:ext uri="{FF2B5EF4-FFF2-40B4-BE49-F238E27FC236}">
                    <a16:creationId xmlns:a16="http://schemas.microsoft.com/office/drawing/2014/main" id="{F329CA8C-26EF-E7B6-0B12-266D9B4DF1C8}"/>
                  </a:ext>
                </a:extLst>
              </p:cNvPr>
              <p:cNvSpPr txBox="1">
                <a:spLocks noRot="1" noChangeAspect="1" noMove="1" noResize="1" noEditPoints="1" noAdjustHandles="1" noChangeArrowheads="1" noChangeShapeType="1" noTextEdit="1"/>
              </p:cNvSpPr>
              <p:nvPr/>
            </p:nvSpPr>
            <p:spPr>
              <a:xfrm>
                <a:off x="1220354" y="4549775"/>
                <a:ext cx="3336105" cy="969176"/>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D36E22A9-A012-C209-3A79-4299ABC88F6B}"/>
                  </a:ext>
                </a:extLst>
              </p:cNvPr>
              <p:cNvSpPr txBox="1"/>
              <p:nvPr/>
            </p:nvSpPr>
            <p:spPr>
              <a:xfrm>
                <a:off x="1142263" y="5619238"/>
                <a:ext cx="3040576" cy="87363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800" i="1" smtClean="0">
                          <a:latin typeface="Cambria Math" panose="02040503050406030204" pitchFamily="18" charset="0"/>
                          <a:ea typeface="Cambria Math" panose="02040503050406030204" pitchFamily="18" charset="0"/>
                        </a:rPr>
                        <m:t>⇒</m:t>
                      </m:r>
                      <m:r>
                        <m:rPr>
                          <m:nor/>
                        </m:rPr>
                        <a:rPr lang="en-US" sz="2800" b="0" i="0" smtClean="0">
                          <a:latin typeface="Cambria Math" panose="02040503050406030204" pitchFamily="18" charset="0"/>
                          <a:ea typeface="Cambria Math" panose="02040503050406030204" pitchFamily="18" charset="0"/>
                        </a:rPr>
                        <m:t>VMR</m:t>
                      </m:r>
                      <m:r>
                        <m:rPr>
                          <m:nor/>
                        </m:rPr>
                        <a:rPr lang="en-US" sz="2800" b="0" i="0" smtClean="0">
                          <a:latin typeface="Cambria Math" panose="02040503050406030204" pitchFamily="18" charset="0"/>
                          <a:ea typeface="Cambria Math" panose="02040503050406030204" pitchFamily="18" charset="0"/>
                        </a:rPr>
                        <m:t>(</m:t>
                      </m:r>
                      <m:sSub>
                        <m:sSubPr>
                          <m:ctrlPr>
                            <a:rPr lang="en-US" sz="2800" b="0" i="1" smtClean="0">
                              <a:latin typeface="Cambria Math" panose="02040503050406030204" pitchFamily="18" charset="0"/>
                              <a:ea typeface="Cambria Math" panose="02040503050406030204" pitchFamily="18" charset="0"/>
                            </a:rPr>
                          </m:ctrlPr>
                        </m:sSubPr>
                        <m:e>
                          <m:r>
                            <a:rPr lang="en-US" sz="2800" b="0" i="1" smtClean="0">
                              <a:latin typeface="Cambria Math" panose="02040503050406030204" pitchFamily="18" charset="0"/>
                              <a:ea typeface="Cambria Math" panose="02040503050406030204" pitchFamily="18" charset="0"/>
                            </a:rPr>
                            <m:t>𝑁</m:t>
                          </m:r>
                        </m:e>
                        <m:sub>
                          <m:r>
                            <a:rPr lang="en-US" sz="2800" b="0" i="1" smtClean="0">
                              <a:latin typeface="Cambria Math" panose="02040503050406030204" pitchFamily="18" charset="0"/>
                              <a:ea typeface="Cambria Math" panose="02040503050406030204" pitchFamily="18" charset="0"/>
                            </a:rPr>
                            <m:t>𝛾</m:t>
                          </m:r>
                        </m:sub>
                      </m:sSub>
                      <m:r>
                        <m:rPr>
                          <m:nor/>
                        </m:rPr>
                        <a:rPr lang="en-US" sz="2800" b="0" i="0" smtClean="0">
                          <a:latin typeface="Cambria Math" panose="02040503050406030204" pitchFamily="18" charset="0"/>
                          <a:ea typeface="Cambria Math" panose="02040503050406030204" pitchFamily="18" charset="0"/>
                        </a:rPr>
                        <m:t>)</m:t>
                      </m:r>
                      <m:r>
                        <a:rPr lang="en-US" sz="2800" b="0" i="0" smtClean="0">
                          <a:latin typeface="Cambria Math" panose="02040503050406030204" pitchFamily="18" charset="0"/>
                          <a:ea typeface="Cambria Math" panose="02040503050406030204" pitchFamily="18" charset="0"/>
                        </a:rPr>
                        <m:t>=</m:t>
                      </m:r>
                      <m:f>
                        <m:fPr>
                          <m:ctrlPr>
                            <a:rPr lang="en-US" sz="2800" b="0" i="1" smtClean="0">
                              <a:latin typeface="Cambria Math" panose="02040503050406030204" pitchFamily="18" charset="0"/>
                              <a:ea typeface="Cambria Math" panose="02040503050406030204" pitchFamily="18" charset="0"/>
                            </a:rPr>
                          </m:ctrlPr>
                        </m:fPr>
                        <m:num>
                          <m:r>
                            <a:rPr lang="en-US" sz="2800" b="0" i="1" smtClean="0">
                              <a:latin typeface="Cambria Math" panose="02040503050406030204" pitchFamily="18" charset="0"/>
                              <a:ea typeface="Cambria Math" panose="02040503050406030204" pitchFamily="18" charset="0"/>
                            </a:rPr>
                            <m:t>1</m:t>
                          </m:r>
                        </m:num>
                        <m:den>
                          <m:r>
                            <m:rPr>
                              <m:nor/>
                            </m:rPr>
                            <a:rPr lang="en-US" sz="2800" b="0" i="0" smtClean="0">
                              <a:latin typeface="Cambria Math" panose="02040503050406030204" pitchFamily="18" charset="0"/>
                              <a:ea typeface="Cambria Math" panose="02040503050406030204" pitchFamily="18" charset="0"/>
                            </a:rPr>
                            <m:t>EQE</m:t>
                          </m:r>
                        </m:den>
                      </m:f>
                    </m:oMath>
                  </m:oMathPara>
                </a14:m>
                <a:endParaRPr lang="en-US" sz="2800" dirty="0"/>
              </a:p>
            </p:txBody>
          </p:sp>
        </mc:Choice>
        <mc:Fallback>
          <p:sp>
            <p:nvSpPr>
              <p:cNvPr id="7" name="TextBox 6">
                <a:extLst>
                  <a:ext uri="{FF2B5EF4-FFF2-40B4-BE49-F238E27FC236}">
                    <a16:creationId xmlns:a16="http://schemas.microsoft.com/office/drawing/2014/main" id="{D36E22A9-A012-C209-3A79-4299ABC88F6B}"/>
                  </a:ext>
                </a:extLst>
              </p:cNvPr>
              <p:cNvSpPr txBox="1">
                <a:spLocks noRot="1" noChangeAspect="1" noMove="1" noResize="1" noEditPoints="1" noAdjustHandles="1" noChangeArrowheads="1" noChangeShapeType="1" noTextEdit="1"/>
              </p:cNvSpPr>
              <p:nvPr/>
            </p:nvSpPr>
            <p:spPr>
              <a:xfrm>
                <a:off x="1142263" y="5619238"/>
                <a:ext cx="3040576" cy="873637"/>
              </a:xfrm>
              <a:prstGeom prst="rect">
                <a:avLst/>
              </a:prstGeom>
              <a:blipFill>
                <a:blip r:embed="rId4"/>
                <a:stretch>
                  <a:fillRect/>
                </a:stretch>
              </a:blipFill>
            </p:spPr>
            <p:txBody>
              <a:bodyPr/>
              <a:lstStyle/>
              <a:p>
                <a:r>
                  <a:rPr lang="en-US">
                    <a:noFill/>
                  </a:rPr>
                  <a:t> </a:t>
                </a:r>
              </a:p>
            </p:txBody>
          </p:sp>
        </mc:Fallback>
      </mc:AlternateContent>
      <p:pic>
        <p:nvPicPr>
          <p:cNvPr id="9" name="Graphic 8">
            <a:extLst>
              <a:ext uri="{FF2B5EF4-FFF2-40B4-BE49-F238E27FC236}">
                <a16:creationId xmlns:a16="http://schemas.microsoft.com/office/drawing/2014/main" id="{A023120C-0F99-CE37-7FA0-6A40FE986F9F}"/>
              </a:ext>
            </a:extLst>
          </p:cNvPr>
          <p:cNvPicPr>
            <a:picLocks noChangeAspect="1"/>
          </p:cNvPicPr>
          <p:nvPr/>
        </p:nvPicPr>
        <p:blipFill>
          <a:blip r:embed="rId5">
            <a:extLst>
              <a:ext uri="{96DAC541-7B7A-43D3-8B79-37D633B846F1}">
                <asvg:svgBlip xmlns:asvg="http://schemas.microsoft.com/office/drawing/2016/SVG/main" r:embed="rId6" r:link="rId7"/>
              </a:ext>
            </a:extLst>
          </a:blip>
          <a:stretch>
            <a:fillRect/>
          </a:stretch>
        </p:blipFill>
        <p:spPr>
          <a:xfrm>
            <a:off x="5513832" y="685800"/>
            <a:ext cx="6400800" cy="5486400"/>
          </a:xfrm>
          <a:prstGeom prst="rect">
            <a:avLst/>
          </a:prstGeom>
        </p:spPr>
      </p:pic>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D4CC878E-45BA-550A-AE13-42B0748AE57F}"/>
                  </a:ext>
                </a:extLst>
              </p:cNvPr>
              <p:cNvSpPr txBox="1"/>
              <p:nvPr/>
            </p:nvSpPr>
            <p:spPr>
              <a:xfrm>
                <a:off x="1220354" y="3751781"/>
                <a:ext cx="3013582" cy="494110"/>
              </a:xfrm>
              <a:prstGeom prst="rect">
                <a:avLst/>
              </a:prstGeom>
              <a:noFill/>
            </p:spPr>
            <p:txBody>
              <a:bodyPr wrap="none" lIns="0" tIns="0" rIns="0" bIns="0" rtlCol="0">
                <a:spAutoFit/>
              </a:bodyPr>
              <a:lstStyle/>
              <a:p>
                <a14:m>
                  <m:oMath xmlns:m="http://schemas.openxmlformats.org/officeDocument/2006/math">
                    <m:d>
                      <m:dPr>
                        <m:begChr m:val="⟨"/>
                        <m:endChr m:val="⟩"/>
                        <m:ctrlPr>
                          <a:rPr lang="en-US" sz="2800" i="1" smtClean="0">
                            <a:latin typeface="Cambria Math" panose="02040503050406030204" pitchFamily="18" charset="0"/>
                          </a:rPr>
                        </m:ctrlPr>
                      </m:dPr>
                      <m:e>
                        <m:sSubSup>
                          <m:sSubSupPr>
                            <m:ctrlPr>
                              <a:rPr lang="en-US" sz="2800" i="1">
                                <a:latin typeface="Cambria Math" panose="02040503050406030204" pitchFamily="18" charset="0"/>
                              </a:rPr>
                            </m:ctrlPr>
                          </m:sSubSupPr>
                          <m:e>
                            <m:r>
                              <a:rPr lang="en-US" sz="2800" i="1">
                                <a:latin typeface="Cambria Math" panose="02040503050406030204" pitchFamily="18" charset="0"/>
                              </a:rPr>
                              <m:t>𝑁</m:t>
                            </m:r>
                          </m:e>
                          <m:sub>
                            <m:r>
                              <a:rPr lang="en-US" sz="2800" i="1">
                                <a:latin typeface="Cambria Math" panose="02040503050406030204" pitchFamily="18" charset="0"/>
                              </a:rPr>
                              <m:t>𝛾</m:t>
                            </m:r>
                          </m:sub>
                          <m:sup>
                            <m:r>
                              <a:rPr lang="en-US" sz="2800" b="0" i="1" smtClean="0">
                                <a:latin typeface="Cambria Math" panose="02040503050406030204" pitchFamily="18" charset="0"/>
                              </a:rPr>
                              <m:t>′′</m:t>
                            </m:r>
                          </m:sup>
                        </m:sSubSup>
                      </m:e>
                    </m:d>
                    <m:r>
                      <a:rPr lang="en-US" sz="2800" b="0" i="1" smtClean="0">
                        <a:latin typeface="Cambria Math" panose="02040503050406030204" pitchFamily="18" charset="0"/>
                      </a:rPr>
                      <m:t>= </m:t>
                    </m:r>
                    <m:r>
                      <m:rPr>
                        <m:nor/>
                      </m:rPr>
                      <a:rPr lang="en-US" sz="2800" b="0" i="0" smtClean="0">
                        <a:latin typeface="Cambria Math" panose="02040503050406030204" pitchFamily="18" charset="0"/>
                      </a:rPr>
                      <m:t>EQE</m:t>
                    </m:r>
                    <m:r>
                      <a:rPr lang="en-US" sz="2800" b="0" i="1" smtClean="0">
                        <a:latin typeface="Cambria Math" panose="02040503050406030204" pitchFamily="18" charset="0"/>
                        <a:ea typeface="Cambria Math" panose="02040503050406030204" pitchFamily="18" charset="0"/>
                      </a:rPr>
                      <m:t>×</m:t>
                    </m:r>
                  </m:oMath>
                </a14:m>
                <a:r>
                  <a:rPr lang="en-US" sz="2800" dirty="0">
                    <a:ea typeface="Cambria Math" panose="02040503050406030204" pitchFamily="18" charset="0"/>
                  </a:rPr>
                  <a:t> </a:t>
                </a:r>
                <a14:m>
                  <m:oMath xmlns:m="http://schemas.openxmlformats.org/officeDocument/2006/math">
                    <m:d>
                      <m:dPr>
                        <m:begChr m:val="⟨"/>
                        <m:endChr m:val="⟩"/>
                        <m:ctrlPr>
                          <a:rPr lang="en-US" sz="2800" i="1">
                            <a:latin typeface="Cambria Math" panose="02040503050406030204" pitchFamily="18" charset="0"/>
                            <a:ea typeface="Cambria Math" panose="02040503050406030204" pitchFamily="18" charset="0"/>
                          </a:rPr>
                        </m:ctrlPr>
                      </m:dPr>
                      <m:e>
                        <m:sSub>
                          <m:sSubPr>
                            <m:ctrlPr>
                              <a:rPr lang="en-US" sz="2800" i="1">
                                <a:latin typeface="Cambria Math" panose="02040503050406030204" pitchFamily="18" charset="0"/>
                                <a:ea typeface="Cambria Math" panose="02040503050406030204" pitchFamily="18" charset="0"/>
                              </a:rPr>
                            </m:ctrlPr>
                          </m:sSubPr>
                          <m:e>
                            <m:r>
                              <a:rPr lang="en-US" sz="2800" i="1">
                                <a:latin typeface="Cambria Math" panose="02040503050406030204" pitchFamily="18" charset="0"/>
                                <a:ea typeface="Cambria Math" panose="02040503050406030204" pitchFamily="18" charset="0"/>
                              </a:rPr>
                              <m:t>𝑁</m:t>
                            </m:r>
                          </m:e>
                          <m:sub>
                            <m:r>
                              <a:rPr lang="en-US" sz="2800" i="1">
                                <a:latin typeface="Cambria Math" panose="02040503050406030204" pitchFamily="18" charset="0"/>
                                <a:ea typeface="Cambria Math" panose="02040503050406030204" pitchFamily="18" charset="0"/>
                              </a:rPr>
                              <m:t>𝛾</m:t>
                            </m:r>
                          </m:sub>
                        </m:sSub>
                      </m:e>
                    </m:d>
                  </m:oMath>
                </a14:m>
                <a:endParaRPr lang="en-US" sz="2800" dirty="0"/>
              </a:p>
            </p:txBody>
          </p:sp>
        </mc:Choice>
        <mc:Fallback>
          <p:sp>
            <p:nvSpPr>
              <p:cNvPr id="4" name="TextBox 3">
                <a:extLst>
                  <a:ext uri="{FF2B5EF4-FFF2-40B4-BE49-F238E27FC236}">
                    <a16:creationId xmlns:a16="http://schemas.microsoft.com/office/drawing/2014/main" id="{D4CC878E-45BA-550A-AE13-42B0748AE57F}"/>
                  </a:ext>
                </a:extLst>
              </p:cNvPr>
              <p:cNvSpPr txBox="1">
                <a:spLocks noRot="1" noChangeAspect="1" noMove="1" noResize="1" noEditPoints="1" noAdjustHandles="1" noChangeArrowheads="1" noChangeShapeType="1" noTextEdit="1"/>
              </p:cNvSpPr>
              <p:nvPr/>
            </p:nvSpPr>
            <p:spPr>
              <a:xfrm>
                <a:off x="1220354" y="3751781"/>
                <a:ext cx="3013582" cy="494110"/>
              </a:xfrm>
              <a:prstGeom prst="rect">
                <a:avLst/>
              </a:prstGeom>
              <a:blipFill>
                <a:blip r:embed="rId8"/>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0378487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B4B91E-87B3-0BCD-8BCD-25708503C5E4}"/>
              </a:ext>
            </a:extLst>
          </p:cNvPr>
          <p:cNvSpPr>
            <a:spLocks noGrp="1"/>
          </p:cNvSpPr>
          <p:nvPr>
            <p:ph type="title"/>
          </p:nvPr>
        </p:nvSpPr>
        <p:spPr/>
        <p:txBody>
          <a:bodyPr/>
          <a:lstStyle/>
          <a:p>
            <a:r>
              <a:rPr lang="en-US" dirty="0"/>
              <a:t>An Improved Noise Model</a:t>
            </a:r>
          </a:p>
        </p:txBody>
      </p:sp>
      <p:sp>
        <p:nvSpPr>
          <p:cNvPr id="3" name="Content Placeholder 2">
            <a:extLst>
              <a:ext uri="{FF2B5EF4-FFF2-40B4-BE49-F238E27FC236}">
                <a16:creationId xmlns:a16="http://schemas.microsoft.com/office/drawing/2014/main" id="{50FFAEB9-E446-4E4F-9AC9-C666A7AD2CA3}"/>
              </a:ext>
            </a:extLst>
          </p:cNvPr>
          <p:cNvSpPr>
            <a:spLocks noGrp="1"/>
          </p:cNvSpPr>
          <p:nvPr>
            <p:ph idx="1"/>
          </p:nvPr>
        </p:nvSpPr>
        <p:spPr/>
        <p:txBody>
          <a:bodyPr/>
          <a:lstStyle/>
          <a:p>
            <a:r>
              <a:rPr lang="en-US" dirty="0"/>
              <a:t>Shot noise</a:t>
            </a:r>
          </a:p>
          <a:p>
            <a:r>
              <a:rPr lang="en-US" dirty="0"/>
              <a:t>Fano noise</a:t>
            </a:r>
          </a:p>
          <a:p>
            <a:pPr lvl="1"/>
            <a:r>
              <a:rPr lang="en-US" dirty="0"/>
              <a:t>Inherent randomness in the charge-generation process</a:t>
            </a:r>
          </a:p>
          <a:p>
            <a:r>
              <a:rPr lang="en-US" b="1" dirty="0"/>
              <a:t>PCC noise</a:t>
            </a:r>
          </a:p>
          <a:p>
            <a:pPr lvl="1"/>
            <a:r>
              <a:rPr lang="en-US" dirty="0"/>
              <a:t>Uncertain CCE due to random absorption depth</a:t>
            </a:r>
          </a:p>
        </p:txBody>
      </p:sp>
    </p:spTree>
    <p:extLst>
      <p:ext uri="{BB962C8B-B14F-4D97-AF65-F5344CB8AC3E}">
        <p14:creationId xmlns:p14="http://schemas.microsoft.com/office/powerpoint/2010/main" val="40493544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84774A-27A8-2326-F7C9-A96B3E2D4A82}"/>
              </a:ext>
            </a:extLst>
          </p:cNvPr>
          <p:cNvSpPr>
            <a:spLocks noGrp="1"/>
          </p:cNvSpPr>
          <p:nvPr>
            <p:ph type="title"/>
          </p:nvPr>
        </p:nvSpPr>
        <p:spPr/>
        <p:txBody>
          <a:bodyPr/>
          <a:lstStyle/>
          <a:p>
            <a:r>
              <a:rPr lang="en-US" dirty="0"/>
              <a:t>Shot Noise</a:t>
            </a:r>
          </a:p>
        </p:txBody>
      </p:sp>
      <p:sp>
        <p:nvSpPr>
          <p:cNvPr id="3" name="Content Placeholder 2">
            <a:extLst>
              <a:ext uri="{FF2B5EF4-FFF2-40B4-BE49-F238E27FC236}">
                <a16:creationId xmlns:a16="http://schemas.microsoft.com/office/drawing/2014/main" id="{84632F34-EAE8-FAFB-B03B-21CE9DBECA41}"/>
              </a:ext>
            </a:extLst>
          </p:cNvPr>
          <p:cNvSpPr>
            <a:spLocks noGrp="1"/>
          </p:cNvSpPr>
          <p:nvPr>
            <p:ph idx="1"/>
          </p:nvPr>
        </p:nvSpPr>
        <p:spPr>
          <a:xfrm>
            <a:off x="838199" y="1825625"/>
            <a:ext cx="4466360" cy="1208520"/>
          </a:xfrm>
        </p:spPr>
        <p:txBody>
          <a:bodyPr>
            <a:normAutofit/>
          </a:bodyPr>
          <a:lstStyle/>
          <a:p>
            <a:r>
              <a:rPr lang="en-US" dirty="0"/>
              <a:t>Absorbed photons are Poisson-distributed</a:t>
            </a:r>
          </a:p>
        </p:txBody>
      </p:sp>
      <p:pic>
        <p:nvPicPr>
          <p:cNvPr id="5" name="Graphic 4">
            <a:extLst>
              <a:ext uri="{FF2B5EF4-FFF2-40B4-BE49-F238E27FC236}">
                <a16:creationId xmlns:a16="http://schemas.microsoft.com/office/drawing/2014/main" id="{7D9E511D-7809-8DB9-D15B-82AF57FA02EE}"/>
              </a:ext>
            </a:extLst>
          </p:cNvPr>
          <p:cNvPicPr>
            <a:picLocks noChangeAspect="1"/>
          </p:cNvPicPr>
          <p:nvPr/>
        </p:nvPicPr>
        <p:blipFill>
          <a:blip r:embed="rId3">
            <a:extLst>
              <a:ext uri="{96DAC541-7B7A-43D3-8B79-37D633B846F1}">
                <asvg:svgBlip xmlns:asvg="http://schemas.microsoft.com/office/drawing/2016/SVG/main" r:embed="rId4" r:link="rId5"/>
              </a:ext>
            </a:extLst>
          </a:blip>
          <a:stretch>
            <a:fillRect/>
          </a:stretch>
        </p:blipFill>
        <p:spPr>
          <a:xfrm>
            <a:off x="5513832" y="685800"/>
            <a:ext cx="6400800" cy="5486400"/>
          </a:xfrm>
          <a:prstGeom prst="rect">
            <a:avLst/>
          </a:prstGeom>
        </p:spPr>
      </p:pic>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01A1675C-E328-6089-5466-0DECC262560D}"/>
                  </a:ext>
                </a:extLst>
              </p:cNvPr>
              <p:cNvSpPr txBox="1"/>
              <p:nvPr/>
            </p:nvSpPr>
            <p:spPr>
              <a:xfrm>
                <a:off x="883228" y="3595899"/>
                <a:ext cx="3967625" cy="58644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2800" b="0" i="1" smtClean="0">
                              <a:latin typeface="Cambria Math" panose="02040503050406030204" pitchFamily="18" charset="0"/>
                            </a:rPr>
                          </m:ctrlPr>
                        </m:sSubSupPr>
                        <m:e>
                          <m:r>
                            <a:rPr lang="en-US" sz="2800" b="0" i="1" smtClean="0">
                              <a:latin typeface="Cambria Math" panose="02040503050406030204" pitchFamily="18" charset="0"/>
                            </a:rPr>
                            <m:t>𝑁</m:t>
                          </m:r>
                        </m:e>
                        <m:sub>
                          <m:r>
                            <a:rPr lang="en-US" sz="2800" b="0" i="1" smtClean="0">
                              <a:latin typeface="Cambria Math" panose="02040503050406030204" pitchFamily="18" charset="0"/>
                            </a:rPr>
                            <m:t>𝛾</m:t>
                          </m:r>
                        </m:sub>
                        <m:sup>
                          <m:r>
                            <a:rPr lang="en-US" sz="2800" b="0" i="1" smtClean="0">
                              <a:latin typeface="Cambria Math" panose="02040503050406030204" pitchFamily="18" charset="0"/>
                            </a:rPr>
                            <m:t>′</m:t>
                          </m:r>
                        </m:sup>
                      </m:sSubSup>
                      <m:r>
                        <a:rPr lang="en-US" sz="2800" b="0" i="1" smtClean="0">
                          <a:latin typeface="Cambria Math" panose="02040503050406030204" pitchFamily="18" charset="0"/>
                        </a:rPr>
                        <m:t> </m:t>
                      </m:r>
                      <m:r>
                        <a:rPr lang="en-US" sz="2800" b="0" i="1" smtClean="0">
                          <a:latin typeface="Cambria Math" panose="02040503050406030204" pitchFamily="18" charset="0"/>
                          <a:ea typeface="Cambria Math" panose="02040503050406030204" pitchFamily="18" charset="0"/>
                        </a:rPr>
                        <m:t>~ </m:t>
                      </m:r>
                      <m:r>
                        <m:rPr>
                          <m:nor/>
                        </m:rPr>
                        <a:rPr lang="en-US" sz="2800" b="0" i="0" smtClean="0">
                          <a:latin typeface="Cambria Math" panose="02040503050406030204" pitchFamily="18" charset="0"/>
                          <a:ea typeface="Cambria Math" panose="02040503050406030204" pitchFamily="18" charset="0"/>
                        </a:rPr>
                        <m:t>Poisson</m:t>
                      </m:r>
                      <m:r>
                        <m:rPr>
                          <m:nor/>
                        </m:rPr>
                        <a:rPr lang="en-US" sz="2800" b="0" i="0" smtClean="0">
                          <a:latin typeface="Cambria Math" panose="02040503050406030204" pitchFamily="18" charset="0"/>
                          <a:ea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𝐴</m:t>
                      </m:r>
                      <m:r>
                        <a:rPr lang="en-US" sz="2800" b="0" i="1" smtClean="0">
                          <a:latin typeface="Cambria Math" panose="02040503050406030204" pitchFamily="18" charset="0"/>
                          <a:ea typeface="Cambria Math" panose="02040503050406030204" pitchFamily="18" charset="0"/>
                        </a:rPr>
                        <m:t> ×</m:t>
                      </m:r>
                      <m:d>
                        <m:dPr>
                          <m:begChr m:val="⟨"/>
                          <m:endChr m:val="⟩"/>
                          <m:ctrlPr>
                            <a:rPr lang="en-US" sz="2800" b="0" i="1" smtClean="0">
                              <a:latin typeface="Cambria Math" panose="02040503050406030204" pitchFamily="18" charset="0"/>
                              <a:ea typeface="Cambria Math" panose="02040503050406030204" pitchFamily="18" charset="0"/>
                            </a:rPr>
                          </m:ctrlPr>
                        </m:dPr>
                        <m:e>
                          <m:sSub>
                            <m:sSubPr>
                              <m:ctrlPr>
                                <a:rPr lang="en-US" sz="2800" b="0" i="1" smtClean="0">
                                  <a:latin typeface="Cambria Math" panose="02040503050406030204" pitchFamily="18" charset="0"/>
                                  <a:ea typeface="Cambria Math" panose="02040503050406030204" pitchFamily="18" charset="0"/>
                                </a:rPr>
                              </m:ctrlPr>
                            </m:sSubPr>
                            <m:e>
                              <m:r>
                                <a:rPr lang="en-US" sz="2800" b="0" i="1" smtClean="0">
                                  <a:latin typeface="Cambria Math" panose="02040503050406030204" pitchFamily="18" charset="0"/>
                                  <a:ea typeface="Cambria Math" panose="02040503050406030204" pitchFamily="18" charset="0"/>
                                </a:rPr>
                                <m:t>𝑁</m:t>
                              </m:r>
                            </m:e>
                            <m:sub>
                              <m:r>
                                <a:rPr lang="en-US" sz="2800" b="0" i="1" smtClean="0">
                                  <a:latin typeface="Cambria Math" panose="02040503050406030204" pitchFamily="18" charset="0"/>
                                  <a:ea typeface="Cambria Math" panose="02040503050406030204" pitchFamily="18" charset="0"/>
                                </a:rPr>
                                <m:t>𝛾</m:t>
                              </m:r>
                            </m:sub>
                          </m:sSub>
                        </m:e>
                      </m:d>
                      <m:r>
                        <m:rPr>
                          <m:nor/>
                        </m:rPr>
                        <a:rPr lang="en-US" sz="2800" b="0" i="0" smtClean="0">
                          <a:latin typeface="Cambria Math" panose="02040503050406030204" pitchFamily="18" charset="0"/>
                          <a:ea typeface="Cambria Math" panose="02040503050406030204" pitchFamily="18" charset="0"/>
                        </a:rPr>
                        <m:t>)</m:t>
                      </m:r>
                    </m:oMath>
                  </m:oMathPara>
                </a14:m>
                <a:endParaRPr lang="en-US" sz="2800" dirty="0"/>
              </a:p>
            </p:txBody>
          </p:sp>
        </mc:Choice>
        <mc:Fallback xmlns="">
          <p:sp>
            <p:nvSpPr>
              <p:cNvPr id="4" name="TextBox 3">
                <a:extLst>
                  <a:ext uri="{FF2B5EF4-FFF2-40B4-BE49-F238E27FC236}">
                    <a16:creationId xmlns:a16="http://schemas.microsoft.com/office/drawing/2014/main" id="{01A1675C-E328-6089-5466-0DECC262560D}"/>
                  </a:ext>
                </a:extLst>
              </p:cNvPr>
              <p:cNvSpPr txBox="1">
                <a:spLocks noRot="1" noChangeAspect="1" noMove="1" noResize="1" noEditPoints="1" noAdjustHandles="1" noChangeArrowheads="1" noChangeShapeType="1" noTextEdit="1"/>
              </p:cNvSpPr>
              <p:nvPr/>
            </p:nvSpPr>
            <p:spPr>
              <a:xfrm>
                <a:off x="883228" y="3595899"/>
                <a:ext cx="3967625" cy="586443"/>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AC03CBD7-BC31-9C03-8CEC-C4CBC7B1465A}"/>
                  </a:ext>
                </a:extLst>
              </p:cNvPr>
              <p:cNvSpPr txBox="1"/>
              <p:nvPr/>
            </p:nvSpPr>
            <p:spPr>
              <a:xfrm>
                <a:off x="1668025" y="4744096"/>
                <a:ext cx="2398029" cy="89896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nor/>
                        </m:rPr>
                        <a:rPr lang="en-US" sz="2800" b="0" i="0" smtClean="0">
                          <a:latin typeface="Cambria Math" panose="02040503050406030204" pitchFamily="18" charset="0"/>
                        </a:rPr>
                        <m:t>VMR</m:t>
                      </m:r>
                      <m:r>
                        <m:rPr>
                          <m:nor/>
                        </m:rPr>
                        <a:rPr lang="en-US" sz="2800" b="0" i="0" smtClean="0">
                          <a:latin typeface="Cambria Math" panose="02040503050406030204" pitchFamily="18" charset="0"/>
                        </a:rPr>
                        <m:t>(</m:t>
                      </m:r>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𝑁</m:t>
                          </m:r>
                        </m:e>
                        <m:sub>
                          <m:r>
                            <a:rPr lang="en-US" sz="2800" b="0" i="1" smtClean="0">
                              <a:latin typeface="Cambria Math" panose="02040503050406030204" pitchFamily="18" charset="0"/>
                            </a:rPr>
                            <m:t>𝛾</m:t>
                          </m:r>
                        </m:sub>
                      </m:sSub>
                      <m:r>
                        <m:rPr>
                          <m:nor/>
                        </m:rPr>
                        <a:rPr lang="en-US" sz="2800" b="0" i="0" smtClean="0">
                          <a:latin typeface="Cambria Math" panose="02040503050406030204" pitchFamily="18" charset="0"/>
                        </a:rPr>
                        <m:t>)</m:t>
                      </m:r>
                      <m:r>
                        <a:rPr lang="en-US" sz="2800" b="0" i="1" smtClean="0">
                          <a:latin typeface="Cambria Math" panose="02040503050406030204" pitchFamily="18" charset="0"/>
                        </a:rPr>
                        <m:t>=</m:t>
                      </m:r>
                      <m:f>
                        <m:fPr>
                          <m:ctrlPr>
                            <a:rPr lang="en-US" sz="2800" b="0" i="1" smtClean="0">
                              <a:latin typeface="Cambria Math" panose="02040503050406030204" pitchFamily="18" charset="0"/>
                            </a:rPr>
                          </m:ctrlPr>
                        </m:fPr>
                        <m:num>
                          <m:r>
                            <a:rPr lang="en-US" sz="2800" b="0" i="1" smtClean="0">
                              <a:latin typeface="Cambria Math" panose="02040503050406030204" pitchFamily="18" charset="0"/>
                            </a:rPr>
                            <m:t>1</m:t>
                          </m:r>
                        </m:num>
                        <m:den>
                          <m:r>
                            <a:rPr lang="en-US" sz="2800" b="0" i="1" smtClean="0">
                              <a:latin typeface="Cambria Math" panose="02040503050406030204" pitchFamily="18" charset="0"/>
                            </a:rPr>
                            <m:t>𝐴</m:t>
                          </m:r>
                        </m:den>
                      </m:f>
                    </m:oMath>
                  </m:oMathPara>
                </a14:m>
                <a:endParaRPr lang="en-US" sz="2800" dirty="0"/>
              </a:p>
            </p:txBody>
          </p:sp>
        </mc:Choice>
        <mc:Fallback xmlns="">
          <p:sp>
            <p:nvSpPr>
              <p:cNvPr id="6" name="TextBox 5">
                <a:extLst>
                  <a:ext uri="{FF2B5EF4-FFF2-40B4-BE49-F238E27FC236}">
                    <a16:creationId xmlns:a16="http://schemas.microsoft.com/office/drawing/2014/main" id="{AC03CBD7-BC31-9C03-8CEC-C4CBC7B1465A}"/>
                  </a:ext>
                </a:extLst>
              </p:cNvPr>
              <p:cNvSpPr txBox="1">
                <a:spLocks noRot="1" noChangeAspect="1" noMove="1" noResize="1" noEditPoints="1" noAdjustHandles="1" noChangeArrowheads="1" noChangeShapeType="1" noTextEdit="1"/>
              </p:cNvSpPr>
              <p:nvPr/>
            </p:nvSpPr>
            <p:spPr>
              <a:xfrm>
                <a:off x="1668025" y="4744096"/>
                <a:ext cx="2398029" cy="898964"/>
              </a:xfrm>
              <a:prstGeom prst="rect">
                <a:avLst/>
              </a:prstGeom>
              <a:blipFill>
                <a:blip r:embed="rId7"/>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4982955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9473E8-2938-19E5-4320-6DEAFBA41315}"/>
              </a:ext>
            </a:extLst>
          </p:cNvPr>
          <p:cNvSpPr>
            <a:spLocks noGrp="1"/>
          </p:cNvSpPr>
          <p:nvPr>
            <p:ph type="title"/>
          </p:nvPr>
        </p:nvSpPr>
        <p:spPr/>
        <p:txBody>
          <a:bodyPr/>
          <a:lstStyle/>
          <a:p>
            <a:r>
              <a:rPr lang="en-US" dirty="0"/>
              <a:t>Fano Noise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DE3FDC6-7CAB-935C-414E-CF7AB941F335}"/>
                  </a:ext>
                </a:extLst>
              </p:cNvPr>
              <p:cNvSpPr>
                <a:spLocks noGrp="1"/>
              </p:cNvSpPr>
              <p:nvPr>
                <p:ph idx="1"/>
              </p:nvPr>
            </p:nvSpPr>
            <p:spPr>
              <a:xfrm>
                <a:off x="838200" y="1825625"/>
                <a:ext cx="4660641" cy="4351338"/>
              </a:xfrm>
            </p:spPr>
            <p:txBody>
              <a:bodyPr/>
              <a:lstStyle/>
              <a:p>
                <a:r>
                  <a:rPr lang="en-US" dirty="0"/>
                  <a:t>Quantum yield uncertainty</a:t>
                </a:r>
              </a:p>
              <a:p>
                <a:r>
                  <a:rPr lang="en-US" dirty="0"/>
                  <a:t>Described by Fano factor</a:t>
                </a:r>
              </a:p>
              <a:p>
                <a:pPr lvl="1"/>
                <a14:m>
                  <m:oMath xmlns:m="http://schemas.openxmlformats.org/officeDocument/2006/math">
                    <m:r>
                      <a:rPr lang="en-US" b="0" i="1" smtClean="0">
                        <a:latin typeface="Cambria Math" panose="02040503050406030204" pitchFamily="18" charset="0"/>
                        <a:ea typeface="Cambria Math" panose="02040503050406030204" pitchFamily="18" charset="0"/>
                      </a:rPr>
                      <m:t>ℱ</m:t>
                    </m:r>
                    <m:r>
                      <m:rPr>
                        <m:nor/>
                      </m:rPr>
                      <a:rPr lang="en-US" b="0" i="0" smtClean="0">
                        <a:latin typeface="Cambria Math" panose="02040503050406030204" pitchFamily="18" charset="0"/>
                        <a:ea typeface="Cambria Math" panose="02040503050406030204" pitchFamily="18" charset="0"/>
                      </a:rPr>
                      <m:t> = </m:t>
                    </m:r>
                    <m:r>
                      <m:rPr>
                        <m:nor/>
                      </m:rPr>
                      <a:rPr lang="en-US" b="0" i="0" smtClean="0">
                        <a:latin typeface="Cambria Math" panose="02040503050406030204" pitchFamily="18" charset="0"/>
                      </a:rPr>
                      <m:t>VMR</m:t>
                    </m:r>
                    <m:r>
                      <m:rPr>
                        <m:nor/>
                      </m:rPr>
                      <a:rPr lang="en-US" b="0" i="0" smtClean="0">
                        <a:latin typeface="Cambria Math" panose="02040503050406030204" pitchFamily="18" charset="0"/>
                      </a:rPr>
                      <m:t>(</m:t>
                    </m:r>
                    <m:r>
                      <m:rPr>
                        <m:nor/>
                      </m:rPr>
                      <a:rPr lang="en-US" b="0" i="0" smtClean="0">
                        <a:latin typeface="Cambria Math" panose="02040503050406030204" pitchFamily="18" charset="0"/>
                      </a:rPr>
                      <m:t>QY</m:t>
                    </m:r>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≃0.1</m:t>
                    </m:r>
                  </m:oMath>
                </a14:m>
                <a:endParaRPr lang="en-US" dirty="0"/>
              </a:p>
              <a:p>
                <a:r>
                  <a:rPr lang="en-US" dirty="0"/>
                  <a:t>Ramanathan &amp; Kurinksy (2020) QY model</a:t>
                </a:r>
              </a:p>
              <a:p>
                <a:r>
                  <a:rPr lang="en-US" dirty="0"/>
                  <a:t>Small compared to other noise sources</a:t>
                </a:r>
              </a:p>
              <a:p>
                <a:endParaRPr lang="en-US" dirty="0"/>
              </a:p>
            </p:txBody>
          </p:sp>
        </mc:Choice>
        <mc:Fallback xmlns="">
          <p:sp>
            <p:nvSpPr>
              <p:cNvPr id="3" name="Content Placeholder 2">
                <a:extLst>
                  <a:ext uri="{FF2B5EF4-FFF2-40B4-BE49-F238E27FC236}">
                    <a16:creationId xmlns:a16="http://schemas.microsoft.com/office/drawing/2014/main" id="{7DE3FDC6-7CAB-935C-414E-CF7AB941F335}"/>
                  </a:ext>
                </a:extLst>
              </p:cNvPr>
              <p:cNvSpPr>
                <a:spLocks noGrp="1" noRot="1" noChangeAspect="1" noMove="1" noResize="1" noEditPoints="1" noAdjustHandles="1" noChangeArrowheads="1" noChangeShapeType="1" noTextEdit="1"/>
              </p:cNvSpPr>
              <p:nvPr>
                <p:ph idx="1"/>
              </p:nvPr>
            </p:nvSpPr>
            <p:spPr>
              <a:xfrm>
                <a:off x="838200" y="1825625"/>
                <a:ext cx="4660641" cy="4351338"/>
              </a:xfrm>
              <a:blipFill>
                <a:blip r:embed="rId3"/>
                <a:stretch>
                  <a:fillRect l="-2356" t="-2381"/>
                </a:stretch>
              </a:blipFill>
            </p:spPr>
            <p:txBody>
              <a:bodyPr/>
              <a:lstStyle/>
              <a:p>
                <a:r>
                  <a:rPr lang="en-US">
                    <a:noFill/>
                  </a:rPr>
                  <a:t> </a:t>
                </a:r>
              </a:p>
            </p:txBody>
          </p:sp>
        </mc:Fallback>
      </mc:AlternateContent>
      <p:pic>
        <p:nvPicPr>
          <p:cNvPr id="7" name="Graphic 6">
            <a:extLst>
              <a:ext uri="{FF2B5EF4-FFF2-40B4-BE49-F238E27FC236}">
                <a16:creationId xmlns:a16="http://schemas.microsoft.com/office/drawing/2014/main" id="{B9403275-ADC7-AE10-6308-B9B185853406}"/>
              </a:ext>
            </a:extLst>
          </p:cNvPr>
          <p:cNvPicPr>
            <a:picLocks noChangeAspect="1"/>
          </p:cNvPicPr>
          <p:nvPr/>
        </p:nvPicPr>
        <p:blipFill>
          <a:blip r:embed="rId4">
            <a:extLst>
              <a:ext uri="{96DAC541-7B7A-43D3-8B79-37D633B846F1}">
                <asvg:svgBlip xmlns:asvg="http://schemas.microsoft.com/office/drawing/2016/SVG/main" r:embed="rId5" r:link="rId6"/>
              </a:ext>
            </a:extLst>
          </a:blip>
          <a:stretch>
            <a:fillRect/>
          </a:stretch>
        </p:blipFill>
        <p:spPr>
          <a:xfrm>
            <a:off x="5513832" y="685800"/>
            <a:ext cx="6400800" cy="5486400"/>
          </a:xfrm>
          <a:prstGeom prst="rect">
            <a:avLst/>
          </a:prstGeom>
        </p:spPr>
      </p:pic>
    </p:spTree>
    <p:extLst>
      <p:ext uri="{BB962C8B-B14F-4D97-AF65-F5344CB8AC3E}">
        <p14:creationId xmlns:p14="http://schemas.microsoft.com/office/powerpoint/2010/main" val="13491279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62FC50-CBE0-8709-E2CC-37B4EE4F96DE}"/>
              </a:ext>
            </a:extLst>
          </p:cNvPr>
          <p:cNvSpPr>
            <a:spLocks noGrp="1"/>
          </p:cNvSpPr>
          <p:nvPr>
            <p:ph type="title"/>
          </p:nvPr>
        </p:nvSpPr>
        <p:spPr/>
        <p:txBody>
          <a:bodyPr/>
          <a:lstStyle/>
          <a:p>
            <a:r>
              <a:rPr lang="en-US" dirty="0"/>
              <a:t>PCC Noise</a:t>
            </a:r>
          </a:p>
        </p:txBody>
      </p:sp>
      <p:sp>
        <p:nvSpPr>
          <p:cNvPr id="3" name="Content Placeholder 2">
            <a:extLst>
              <a:ext uri="{FF2B5EF4-FFF2-40B4-BE49-F238E27FC236}">
                <a16:creationId xmlns:a16="http://schemas.microsoft.com/office/drawing/2014/main" id="{2D4A1B6C-33BD-AFE2-9536-A67D16396676}"/>
              </a:ext>
            </a:extLst>
          </p:cNvPr>
          <p:cNvSpPr>
            <a:spLocks noGrp="1"/>
          </p:cNvSpPr>
          <p:nvPr>
            <p:ph sz="half" idx="1"/>
          </p:nvPr>
        </p:nvSpPr>
        <p:spPr>
          <a:xfrm>
            <a:off x="838200" y="1825625"/>
            <a:ext cx="4455968" cy="2772352"/>
          </a:xfrm>
        </p:spPr>
        <p:txBody>
          <a:bodyPr>
            <a:normAutofit/>
          </a:bodyPr>
          <a:lstStyle/>
          <a:p>
            <a:r>
              <a:rPr lang="en-US" dirty="0"/>
              <a:t>Since each photon is absorbed at a different depth, each experiences a different CCE.</a:t>
            </a:r>
          </a:p>
          <a:p>
            <a:r>
              <a:rPr lang="en-US" dirty="0"/>
              <a:t>Each electron has a chance of being absorbed </a:t>
            </a:r>
          </a:p>
        </p:txBody>
      </p:sp>
      <p:pic>
        <p:nvPicPr>
          <p:cNvPr id="6" name="Graphic 5">
            <a:extLst>
              <a:ext uri="{FF2B5EF4-FFF2-40B4-BE49-F238E27FC236}">
                <a16:creationId xmlns:a16="http://schemas.microsoft.com/office/drawing/2014/main" id="{CA6AA730-AD7F-0EA9-59F2-6E2063B2E28A}"/>
              </a:ext>
            </a:extLst>
          </p:cNvPr>
          <p:cNvPicPr>
            <a:picLocks noChangeAspect="1"/>
          </p:cNvPicPr>
          <p:nvPr/>
        </p:nvPicPr>
        <p:blipFill>
          <a:blip r:embed="rId3">
            <a:extLst>
              <a:ext uri="{96DAC541-7B7A-43D3-8B79-37D633B846F1}">
                <asvg:svgBlip xmlns:asvg="http://schemas.microsoft.com/office/drawing/2016/SVG/main" r:embed="rId4" r:link="rId5"/>
              </a:ext>
            </a:extLst>
          </a:blip>
          <a:stretch>
            <a:fillRect/>
          </a:stretch>
        </p:blipFill>
        <p:spPr>
          <a:xfrm>
            <a:off x="5513832" y="685800"/>
            <a:ext cx="6400800" cy="5486400"/>
          </a:xfrm>
          <a:prstGeom prst="rect">
            <a:avLst/>
          </a:prstGeom>
        </p:spPr>
      </p:pic>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A33ACD9F-4A7E-5DC9-62C2-1B2694C93C34}"/>
                  </a:ext>
                </a:extLst>
              </p:cNvPr>
              <p:cNvSpPr txBox="1"/>
              <p:nvPr/>
            </p:nvSpPr>
            <p:spPr>
              <a:xfrm>
                <a:off x="686555" y="4886243"/>
                <a:ext cx="4717445" cy="139454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𝑁</m:t>
                          </m:r>
                        </m:e>
                        <m:sub>
                          <m:r>
                            <a:rPr lang="en-US" sz="2800" b="0" i="1" smtClean="0">
                              <a:latin typeface="Cambria Math" panose="02040503050406030204" pitchFamily="18" charset="0"/>
                            </a:rPr>
                            <m:t>𝑒</m:t>
                          </m:r>
                        </m:sub>
                      </m:sSub>
                      <m:r>
                        <a:rPr lang="en-US" sz="2800" b="0" i="1" smtClean="0">
                          <a:latin typeface="Cambria Math" panose="02040503050406030204" pitchFamily="18" charset="0"/>
                        </a:rPr>
                        <m:t>=</m:t>
                      </m:r>
                      <m:nary>
                        <m:naryPr>
                          <m:chr m:val="∑"/>
                          <m:ctrlPr>
                            <a:rPr lang="en-US" sz="2800" b="0" i="1" smtClean="0">
                              <a:latin typeface="Cambria Math" panose="02040503050406030204" pitchFamily="18" charset="0"/>
                            </a:rPr>
                          </m:ctrlPr>
                        </m:naryPr>
                        <m:sub>
                          <m:r>
                            <m:rPr>
                              <m:brk m:alnAt="23"/>
                            </m:rPr>
                            <a:rPr lang="en-US" sz="2800" b="0" i="1" smtClean="0">
                              <a:latin typeface="Cambria Math" panose="02040503050406030204" pitchFamily="18" charset="0"/>
                            </a:rPr>
                            <m:t>𝑖</m:t>
                          </m:r>
                          <m:r>
                            <a:rPr lang="en-US" sz="2800" b="0" i="1" smtClean="0">
                              <a:latin typeface="Cambria Math" panose="02040503050406030204" pitchFamily="18" charset="0"/>
                            </a:rPr>
                            <m:t>=0</m:t>
                          </m:r>
                        </m:sub>
                        <m:sup>
                          <m:sSubSup>
                            <m:sSubSupPr>
                              <m:ctrlPr>
                                <a:rPr lang="en-US" sz="2800" b="0" i="1" smtClean="0">
                                  <a:latin typeface="Cambria Math" panose="02040503050406030204" pitchFamily="18" charset="0"/>
                                </a:rPr>
                              </m:ctrlPr>
                            </m:sSubSupPr>
                            <m:e>
                              <m:r>
                                <a:rPr lang="en-US" sz="2800" b="0" i="1" smtClean="0">
                                  <a:latin typeface="Cambria Math" panose="02040503050406030204" pitchFamily="18" charset="0"/>
                                </a:rPr>
                                <m:t>𝑁</m:t>
                              </m:r>
                            </m:e>
                            <m:sub>
                              <m:r>
                                <a:rPr lang="en-US" sz="2800" b="0" i="1" smtClean="0">
                                  <a:latin typeface="Cambria Math" panose="02040503050406030204" pitchFamily="18" charset="0"/>
                                </a:rPr>
                                <m:t>𝛾</m:t>
                              </m:r>
                            </m:sub>
                            <m:sup>
                              <m:r>
                                <a:rPr lang="en-US" sz="2800" b="0" i="1" smtClean="0">
                                  <a:latin typeface="Cambria Math" panose="02040503050406030204" pitchFamily="18" charset="0"/>
                                </a:rPr>
                                <m:t>′</m:t>
                              </m:r>
                            </m:sup>
                          </m:sSubSup>
                        </m:sup>
                        <m:e>
                          <m:r>
                            <m:rPr>
                              <m:nor/>
                            </m:rPr>
                            <a:rPr lang="en-US" sz="2800">
                              <a:latin typeface="Cambria Math" panose="02040503050406030204" pitchFamily="18" charset="0"/>
                            </a:rPr>
                            <m:t>Binomial</m:t>
                          </m:r>
                          <m:d>
                            <m:dPr>
                              <m:ctrlPr>
                                <a:rPr lang="en-US" sz="2800" i="1">
                                  <a:latin typeface="Cambria Math" panose="02040503050406030204" pitchFamily="18" charset="0"/>
                                </a:rPr>
                              </m:ctrlPr>
                            </m:dPr>
                            <m:e>
                              <m:sSub>
                                <m:sSubPr>
                                  <m:ctrlPr>
                                    <a:rPr lang="en-US" sz="2800" i="1">
                                      <a:latin typeface="Cambria Math" panose="02040503050406030204" pitchFamily="18" charset="0"/>
                                    </a:rPr>
                                  </m:ctrlPr>
                                </m:sSubPr>
                                <m:e>
                                  <m:r>
                                    <a:rPr lang="en-US" sz="2800" b="0" i="1" smtClean="0">
                                      <a:latin typeface="Cambria Math" panose="02040503050406030204" pitchFamily="18" charset="0"/>
                                    </a:rPr>
                                    <m:t>𝑛</m:t>
                                  </m:r>
                                </m:e>
                                <m:sub>
                                  <m:r>
                                    <a:rPr lang="en-US" sz="2800" i="1">
                                      <a:latin typeface="Cambria Math" panose="02040503050406030204" pitchFamily="18" charset="0"/>
                                    </a:rPr>
                                    <m:t>𝑖</m:t>
                                  </m:r>
                                </m:sub>
                              </m:sSub>
                              <m:r>
                                <a:rPr lang="en-US" sz="2800" i="1">
                                  <a:latin typeface="Cambria Math" panose="02040503050406030204" pitchFamily="18" charset="0"/>
                                </a:rPr>
                                <m:t>, </m:t>
                              </m:r>
                              <m:r>
                                <a:rPr lang="en-US" sz="2800" i="1">
                                  <a:latin typeface="Cambria Math" panose="02040503050406030204" pitchFamily="18" charset="0"/>
                                </a:rPr>
                                <m:t>𝜂</m:t>
                              </m:r>
                              <m:d>
                                <m:dPr>
                                  <m:ctrlPr>
                                    <a:rPr lang="en-US" sz="2800" i="1">
                                      <a:latin typeface="Cambria Math" panose="02040503050406030204" pitchFamily="18" charset="0"/>
                                    </a:rPr>
                                  </m:ctrlPr>
                                </m:dPr>
                                <m:e>
                                  <m:sSub>
                                    <m:sSubPr>
                                      <m:ctrlPr>
                                        <a:rPr lang="en-US" sz="2800" i="1">
                                          <a:latin typeface="Cambria Math" panose="02040503050406030204" pitchFamily="18" charset="0"/>
                                        </a:rPr>
                                      </m:ctrlPr>
                                    </m:sSubPr>
                                    <m:e>
                                      <m:r>
                                        <a:rPr lang="en-US" sz="2800" i="1">
                                          <a:latin typeface="Cambria Math" panose="02040503050406030204" pitchFamily="18" charset="0"/>
                                        </a:rPr>
                                        <m:t>𝑧</m:t>
                                      </m:r>
                                    </m:e>
                                    <m:sub>
                                      <m:r>
                                        <a:rPr lang="en-US" sz="2800" i="1">
                                          <a:latin typeface="Cambria Math" panose="02040503050406030204" pitchFamily="18" charset="0"/>
                                        </a:rPr>
                                        <m:t>𝑖</m:t>
                                      </m:r>
                                    </m:sub>
                                  </m:sSub>
                                </m:e>
                              </m:d>
                            </m:e>
                          </m:d>
                        </m:e>
                      </m:nary>
                    </m:oMath>
                  </m:oMathPara>
                </a14:m>
                <a:endParaRPr lang="en-US" sz="2800" dirty="0"/>
              </a:p>
            </p:txBody>
          </p:sp>
        </mc:Choice>
        <mc:Fallback>
          <p:sp>
            <p:nvSpPr>
              <p:cNvPr id="4" name="TextBox 3">
                <a:extLst>
                  <a:ext uri="{FF2B5EF4-FFF2-40B4-BE49-F238E27FC236}">
                    <a16:creationId xmlns:a16="http://schemas.microsoft.com/office/drawing/2014/main" id="{A33ACD9F-4A7E-5DC9-62C2-1B2694C93C34}"/>
                  </a:ext>
                </a:extLst>
              </p:cNvPr>
              <p:cNvSpPr txBox="1">
                <a:spLocks noRot="1" noChangeAspect="1" noMove="1" noResize="1" noEditPoints="1" noAdjustHandles="1" noChangeArrowheads="1" noChangeShapeType="1" noTextEdit="1"/>
              </p:cNvSpPr>
              <p:nvPr/>
            </p:nvSpPr>
            <p:spPr>
              <a:xfrm>
                <a:off x="686555" y="4886243"/>
                <a:ext cx="4717445" cy="1394549"/>
              </a:xfrm>
              <a:prstGeom prst="rect">
                <a:avLst/>
              </a:prstGeom>
              <a:blipFill>
                <a:blip r:embed="rId6"/>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3097453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DBF65F-F963-9FDE-1899-3B73E39A525B}"/>
              </a:ext>
            </a:extLst>
          </p:cNvPr>
          <p:cNvSpPr>
            <a:spLocks noGrp="1"/>
          </p:cNvSpPr>
          <p:nvPr>
            <p:ph type="title"/>
          </p:nvPr>
        </p:nvSpPr>
        <p:spPr>
          <a:xfrm>
            <a:off x="838200" y="365125"/>
            <a:ext cx="4486835" cy="1325563"/>
          </a:xfrm>
        </p:spPr>
        <p:txBody>
          <a:bodyPr/>
          <a:lstStyle/>
          <a:p>
            <a:r>
              <a:rPr lang="en-US" dirty="0"/>
              <a:t>Penetration depth</a:t>
            </a:r>
          </a:p>
        </p:txBody>
      </p:sp>
      <p:sp>
        <p:nvSpPr>
          <p:cNvPr id="3" name="Content Placeholder 2">
            <a:extLst>
              <a:ext uri="{FF2B5EF4-FFF2-40B4-BE49-F238E27FC236}">
                <a16:creationId xmlns:a16="http://schemas.microsoft.com/office/drawing/2014/main" id="{229301FD-653C-EFA2-C3C0-0A19295F6D7E}"/>
              </a:ext>
            </a:extLst>
          </p:cNvPr>
          <p:cNvSpPr>
            <a:spLocks noGrp="1"/>
          </p:cNvSpPr>
          <p:nvPr>
            <p:ph sz="half" idx="1"/>
          </p:nvPr>
        </p:nvSpPr>
        <p:spPr>
          <a:xfrm>
            <a:off x="838200" y="1825625"/>
            <a:ext cx="4224618" cy="4351338"/>
          </a:xfrm>
        </p:spPr>
        <p:txBody>
          <a:bodyPr/>
          <a:lstStyle/>
          <a:p>
            <a:r>
              <a:rPr lang="en-US" dirty="0"/>
              <a:t>Some ultraviolet wavelengths have a penetration depth smaller than the PCC region</a:t>
            </a:r>
          </a:p>
          <a:p>
            <a:pPr lvl="1"/>
            <a:r>
              <a:rPr lang="en-US" dirty="0"/>
              <a:t>~40 – 100 A</a:t>
            </a:r>
          </a:p>
          <a:p>
            <a:pPr lvl="1"/>
            <a:r>
              <a:rPr lang="en-US" dirty="0"/>
              <a:t>~500 – 4500 A</a:t>
            </a:r>
          </a:p>
          <a:p>
            <a:r>
              <a:rPr lang="en-US" dirty="0"/>
              <a:t>PCC noise is important in these regions</a:t>
            </a:r>
          </a:p>
        </p:txBody>
      </p:sp>
      <p:pic>
        <p:nvPicPr>
          <p:cNvPr id="5" name="Graphic 4">
            <a:extLst>
              <a:ext uri="{FF2B5EF4-FFF2-40B4-BE49-F238E27FC236}">
                <a16:creationId xmlns:a16="http://schemas.microsoft.com/office/drawing/2014/main" id="{B7D91322-E042-0AA1-C440-857EAA9E44CD}"/>
              </a:ext>
            </a:extLst>
          </p:cNvPr>
          <p:cNvPicPr>
            <a:picLocks noChangeAspect="1"/>
          </p:cNvPicPr>
          <p:nvPr/>
        </p:nvPicPr>
        <p:blipFill>
          <a:blip r:embed="rId3">
            <a:extLst>
              <a:ext uri="{96DAC541-7B7A-43D3-8B79-37D633B846F1}">
                <asvg:svgBlip xmlns:asvg="http://schemas.microsoft.com/office/drawing/2016/SVG/main" r:embed="rId4" r:link="rId5"/>
              </a:ext>
            </a:extLst>
          </a:blip>
          <a:stretch>
            <a:fillRect/>
          </a:stretch>
        </p:blipFill>
        <p:spPr>
          <a:xfrm>
            <a:off x="5510451" y="685800"/>
            <a:ext cx="6400800" cy="5486400"/>
          </a:xfrm>
          <a:prstGeom prst="rect">
            <a:avLst/>
          </a:prstGeom>
        </p:spPr>
      </p:pic>
    </p:spTree>
    <p:extLst>
      <p:ext uri="{BB962C8B-B14F-4D97-AF65-F5344CB8AC3E}">
        <p14:creationId xmlns:p14="http://schemas.microsoft.com/office/powerpoint/2010/main" val="22729398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E6F860-A9C6-A4B9-B6F2-3AB2E0DFF113}"/>
              </a:ext>
            </a:extLst>
          </p:cNvPr>
          <p:cNvSpPr>
            <a:spLocks noGrp="1"/>
          </p:cNvSpPr>
          <p:nvPr>
            <p:ph type="title"/>
          </p:nvPr>
        </p:nvSpPr>
        <p:spPr/>
        <p:txBody>
          <a:bodyPr/>
          <a:lstStyle/>
          <a:p>
            <a:r>
              <a:rPr lang="en-US" dirty="0"/>
              <a:t>Total Noise</a:t>
            </a:r>
          </a:p>
        </p:txBody>
      </p:sp>
      <p:sp>
        <p:nvSpPr>
          <p:cNvPr id="3" name="Content Placeholder 2">
            <a:extLst>
              <a:ext uri="{FF2B5EF4-FFF2-40B4-BE49-F238E27FC236}">
                <a16:creationId xmlns:a16="http://schemas.microsoft.com/office/drawing/2014/main" id="{03740DE6-796E-6C14-A405-F33015E11717}"/>
              </a:ext>
            </a:extLst>
          </p:cNvPr>
          <p:cNvSpPr>
            <a:spLocks noGrp="1"/>
          </p:cNvSpPr>
          <p:nvPr>
            <p:ph idx="1"/>
          </p:nvPr>
        </p:nvSpPr>
        <p:spPr>
          <a:xfrm>
            <a:off x="838200" y="1825625"/>
            <a:ext cx="4107873" cy="4351338"/>
          </a:xfrm>
        </p:spPr>
        <p:txBody>
          <a:bodyPr>
            <a:normAutofit fontScale="92500"/>
          </a:bodyPr>
          <a:lstStyle/>
          <a:p>
            <a:r>
              <a:rPr lang="en-US" dirty="0"/>
              <a:t>Sum of shot, Fano, and PCC noise</a:t>
            </a:r>
          </a:p>
          <a:p>
            <a:r>
              <a:rPr lang="en-US" dirty="0"/>
              <a:t>VMR of improved model is smaller than the simple model in the UV</a:t>
            </a:r>
          </a:p>
          <a:p>
            <a:pPr lvl="1"/>
            <a:r>
              <a:rPr lang="en-US" dirty="0"/>
              <a:t>Shallow penetration depth</a:t>
            </a:r>
          </a:p>
          <a:p>
            <a:r>
              <a:rPr lang="en-US" dirty="0"/>
              <a:t>The partial events improve the noise performance</a:t>
            </a:r>
          </a:p>
          <a:p>
            <a:pPr lvl="1"/>
            <a:r>
              <a:rPr lang="en-US" dirty="0"/>
              <a:t>More photons are detected</a:t>
            </a:r>
          </a:p>
          <a:p>
            <a:endParaRPr lang="en-US" dirty="0"/>
          </a:p>
        </p:txBody>
      </p:sp>
      <p:pic>
        <p:nvPicPr>
          <p:cNvPr id="6" name="Graphic 5">
            <a:extLst>
              <a:ext uri="{FF2B5EF4-FFF2-40B4-BE49-F238E27FC236}">
                <a16:creationId xmlns:a16="http://schemas.microsoft.com/office/drawing/2014/main" id="{D005072C-9C38-1203-43D3-9AC62A33F117}"/>
              </a:ext>
            </a:extLst>
          </p:cNvPr>
          <p:cNvPicPr>
            <a:picLocks noChangeAspect="1"/>
          </p:cNvPicPr>
          <p:nvPr/>
        </p:nvPicPr>
        <p:blipFill>
          <a:blip r:embed="rId3">
            <a:extLst>
              <a:ext uri="{96DAC541-7B7A-43D3-8B79-37D633B846F1}">
                <asvg:svgBlip xmlns:asvg="http://schemas.microsoft.com/office/drawing/2016/SVG/main" r:embed="rId4" r:link="rId5"/>
              </a:ext>
            </a:extLst>
          </a:blip>
          <a:stretch>
            <a:fillRect/>
          </a:stretch>
        </p:blipFill>
        <p:spPr>
          <a:xfrm>
            <a:off x="5513832" y="685800"/>
            <a:ext cx="6400800" cy="5486400"/>
          </a:xfrm>
          <a:prstGeom prst="rect">
            <a:avLst/>
          </a:prstGeom>
        </p:spPr>
      </p:pic>
    </p:spTree>
    <p:extLst>
      <p:ext uri="{BB962C8B-B14F-4D97-AF65-F5344CB8AC3E}">
        <p14:creationId xmlns:p14="http://schemas.microsoft.com/office/powerpoint/2010/main" val="17075770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410D3D-6994-7E23-BC55-697EDF0BE722}"/>
              </a:ext>
            </a:extLst>
          </p:cNvPr>
          <p:cNvSpPr>
            <a:spLocks noGrp="1"/>
          </p:cNvSpPr>
          <p:nvPr>
            <p:ph type="title"/>
          </p:nvPr>
        </p:nvSpPr>
        <p:spPr/>
        <p:txBody>
          <a:bodyPr/>
          <a:lstStyle/>
          <a:p>
            <a:r>
              <a:rPr lang="en-US" dirty="0"/>
              <a:t>SNR improvement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76D6415-CD9C-017C-5409-5D9E75264438}"/>
                  </a:ext>
                </a:extLst>
              </p:cNvPr>
              <p:cNvSpPr>
                <a:spLocks noGrp="1"/>
              </p:cNvSpPr>
              <p:nvPr>
                <p:ph idx="1"/>
              </p:nvPr>
            </p:nvSpPr>
            <p:spPr>
              <a:xfrm>
                <a:off x="838200" y="3873499"/>
                <a:ext cx="3603914" cy="2303463"/>
              </a:xfrm>
            </p:spPr>
            <p:txBody>
              <a:bodyPr/>
              <a:lstStyle/>
              <a:p>
                <a:r>
                  <a:rPr lang="en-US" dirty="0"/>
                  <a:t>SNR improves by up to </a:t>
                </a:r>
                <a14:m>
                  <m:oMath xmlns:m="http://schemas.openxmlformats.org/officeDocument/2006/math">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30%</m:t>
                    </m:r>
                  </m:oMath>
                </a14:m>
                <a:r>
                  <a:rPr lang="en-US" dirty="0"/>
                  <a:t> compared to the </a:t>
                </a:r>
                <a:r>
                  <a:rPr lang="en-US"/>
                  <a:t>simple model</a:t>
                </a:r>
              </a:p>
              <a:p>
                <a:endParaRPr lang="en-US" dirty="0"/>
              </a:p>
            </p:txBody>
          </p:sp>
        </mc:Choice>
        <mc:Fallback xmlns="">
          <p:sp>
            <p:nvSpPr>
              <p:cNvPr id="3" name="Content Placeholder 2">
                <a:extLst>
                  <a:ext uri="{FF2B5EF4-FFF2-40B4-BE49-F238E27FC236}">
                    <a16:creationId xmlns:a16="http://schemas.microsoft.com/office/drawing/2014/main" id="{E76D6415-CD9C-017C-5409-5D9E75264438}"/>
                  </a:ext>
                </a:extLst>
              </p:cNvPr>
              <p:cNvSpPr>
                <a:spLocks noGrp="1" noRot="1" noChangeAspect="1" noMove="1" noResize="1" noEditPoints="1" noAdjustHandles="1" noChangeArrowheads="1" noChangeShapeType="1" noTextEdit="1"/>
              </p:cNvSpPr>
              <p:nvPr>
                <p:ph idx="1"/>
              </p:nvPr>
            </p:nvSpPr>
            <p:spPr>
              <a:xfrm>
                <a:off x="838200" y="3873499"/>
                <a:ext cx="3603914" cy="2303463"/>
              </a:xfrm>
              <a:blipFill>
                <a:blip r:embed="rId3"/>
                <a:stretch>
                  <a:fillRect l="-3046" t="-4497" r="-1692"/>
                </a:stretch>
              </a:blipFill>
            </p:spPr>
            <p:txBody>
              <a:bodyPr/>
              <a:lstStyle/>
              <a:p>
                <a:r>
                  <a:rPr lang="en-US">
                    <a:noFill/>
                  </a:rPr>
                  <a:t> </a:t>
                </a:r>
              </a:p>
            </p:txBody>
          </p:sp>
        </mc:Fallback>
      </mc:AlternateContent>
      <p:pic>
        <p:nvPicPr>
          <p:cNvPr id="6" name="Graphic 5">
            <a:extLst>
              <a:ext uri="{FF2B5EF4-FFF2-40B4-BE49-F238E27FC236}">
                <a16:creationId xmlns:a16="http://schemas.microsoft.com/office/drawing/2014/main" id="{4CF79A35-B522-7C8F-33BD-4FA793C3C19F}"/>
              </a:ext>
            </a:extLst>
          </p:cNvPr>
          <p:cNvPicPr>
            <a:picLocks noChangeAspect="1"/>
          </p:cNvPicPr>
          <p:nvPr/>
        </p:nvPicPr>
        <p:blipFill>
          <a:blip r:embed="rId4">
            <a:extLst>
              <a:ext uri="{96DAC541-7B7A-43D3-8B79-37D633B846F1}">
                <asvg:svgBlip xmlns:asvg="http://schemas.microsoft.com/office/drawing/2016/SVG/main" r:embed="rId5" r:link="rId6"/>
              </a:ext>
            </a:extLst>
          </a:blip>
          <a:stretch>
            <a:fillRect/>
          </a:stretch>
        </p:blipFill>
        <p:spPr>
          <a:xfrm>
            <a:off x="5513832" y="685800"/>
            <a:ext cx="6400800" cy="5486400"/>
          </a:xfrm>
          <a:prstGeom prst="rect">
            <a:avLst/>
          </a:prstGeom>
        </p:spPr>
      </p:pic>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740B57F5-53CA-F65F-D9F9-EE32FD9F80F6}"/>
                  </a:ext>
                </a:extLst>
              </p:cNvPr>
              <p:cNvSpPr txBox="1"/>
              <p:nvPr/>
            </p:nvSpPr>
            <p:spPr>
              <a:xfrm>
                <a:off x="1272218" y="1883383"/>
                <a:ext cx="2735877" cy="136537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m:t>
                      </m:r>
                      <m:rad>
                        <m:radPr>
                          <m:degHide m:val="on"/>
                          <m:ctrlPr>
                            <a:rPr lang="en-US" sz="2800" b="0" i="1" smtClean="0">
                              <a:latin typeface="Cambria Math" panose="02040503050406030204" pitchFamily="18" charset="0"/>
                            </a:rPr>
                          </m:ctrlPr>
                        </m:radPr>
                        <m:deg/>
                        <m:e>
                          <m:f>
                            <m:fPr>
                              <m:ctrlPr>
                                <a:rPr lang="en-US" sz="2800" b="0" i="1" smtClean="0">
                                  <a:latin typeface="Cambria Math" panose="02040503050406030204" pitchFamily="18" charset="0"/>
                                </a:rPr>
                              </m:ctrlPr>
                            </m:fPr>
                            <m:num>
                              <m:r>
                                <m:rPr>
                                  <m:nor/>
                                </m:rPr>
                                <a:rPr lang="en-US" sz="2800" b="0" i="0" smtClean="0">
                                  <a:latin typeface="Cambria Math" panose="02040503050406030204" pitchFamily="18" charset="0"/>
                                </a:rPr>
                                <m:t>simple</m:t>
                              </m:r>
                              <m:r>
                                <m:rPr>
                                  <m:nor/>
                                </m:rPr>
                                <a:rPr lang="en-US" sz="2800" b="0" i="0" smtClean="0">
                                  <a:latin typeface="Cambria Math" panose="02040503050406030204" pitchFamily="18" charset="0"/>
                                </a:rPr>
                                <m:t> </m:t>
                              </m:r>
                              <m:r>
                                <m:rPr>
                                  <m:nor/>
                                </m:rPr>
                                <a:rPr lang="en-US" sz="2800" b="0" i="0" smtClean="0">
                                  <a:latin typeface="Cambria Math" panose="02040503050406030204" pitchFamily="18" charset="0"/>
                                </a:rPr>
                                <m:t>VMR</m:t>
                              </m:r>
                            </m:num>
                            <m:den>
                              <m:r>
                                <m:rPr>
                                  <m:nor/>
                                </m:rPr>
                                <a:rPr lang="en-US" sz="2800" b="0" i="0" smtClean="0">
                                  <a:latin typeface="Cambria Math" panose="02040503050406030204" pitchFamily="18" charset="0"/>
                                </a:rPr>
                                <m:t>total</m:t>
                              </m:r>
                              <m:r>
                                <m:rPr>
                                  <m:nor/>
                                </m:rPr>
                                <a:rPr lang="en-US" sz="2800" b="0" i="0" smtClean="0">
                                  <a:latin typeface="Cambria Math" panose="02040503050406030204" pitchFamily="18" charset="0"/>
                                </a:rPr>
                                <m:t> </m:t>
                              </m:r>
                              <m:r>
                                <m:rPr>
                                  <m:nor/>
                                </m:rPr>
                                <a:rPr lang="en-US" sz="2800" b="0" i="0" smtClean="0">
                                  <a:latin typeface="Cambria Math" panose="02040503050406030204" pitchFamily="18" charset="0"/>
                                </a:rPr>
                                <m:t>VMR</m:t>
                              </m:r>
                            </m:den>
                          </m:f>
                        </m:e>
                      </m:rad>
                    </m:oMath>
                  </m:oMathPara>
                </a14:m>
                <a:endParaRPr lang="en-US" sz="2800" dirty="0"/>
              </a:p>
            </p:txBody>
          </p:sp>
        </mc:Choice>
        <mc:Fallback xmlns="">
          <p:sp>
            <p:nvSpPr>
              <p:cNvPr id="8" name="TextBox 7">
                <a:extLst>
                  <a:ext uri="{FF2B5EF4-FFF2-40B4-BE49-F238E27FC236}">
                    <a16:creationId xmlns:a16="http://schemas.microsoft.com/office/drawing/2014/main" id="{740B57F5-53CA-F65F-D9F9-EE32FD9F80F6}"/>
                  </a:ext>
                </a:extLst>
              </p:cNvPr>
              <p:cNvSpPr txBox="1">
                <a:spLocks noRot="1" noChangeAspect="1" noMove="1" noResize="1" noEditPoints="1" noAdjustHandles="1" noChangeArrowheads="1" noChangeShapeType="1" noTextEdit="1"/>
              </p:cNvSpPr>
              <p:nvPr/>
            </p:nvSpPr>
            <p:spPr>
              <a:xfrm>
                <a:off x="1272218" y="1883383"/>
                <a:ext cx="2735877" cy="1365374"/>
              </a:xfrm>
              <a:prstGeom prst="rect">
                <a:avLst/>
              </a:prstGeom>
              <a:blipFill>
                <a:blip r:embed="rId7"/>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7729841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BA222D-4063-7F76-79CB-53782D0937C8}"/>
              </a:ext>
            </a:extLst>
          </p:cNvPr>
          <p:cNvSpPr>
            <a:spLocks noGrp="1"/>
          </p:cNvSpPr>
          <p:nvPr>
            <p:ph type="title"/>
          </p:nvPr>
        </p:nvSpPr>
        <p:spPr/>
        <p:txBody>
          <a:bodyPr/>
          <a:lstStyle/>
          <a:p>
            <a:r>
              <a:rPr lang="en-US" dirty="0"/>
              <a:t>Charge spreading?</a:t>
            </a:r>
          </a:p>
        </p:txBody>
      </p:sp>
      <p:sp>
        <p:nvSpPr>
          <p:cNvPr id="3" name="Content Placeholder 2">
            <a:extLst>
              <a:ext uri="{FF2B5EF4-FFF2-40B4-BE49-F238E27FC236}">
                <a16:creationId xmlns:a16="http://schemas.microsoft.com/office/drawing/2014/main" id="{4E7CF5C1-95AC-EE14-4947-2A6EA5BA4572}"/>
              </a:ext>
            </a:extLst>
          </p:cNvPr>
          <p:cNvSpPr>
            <a:spLocks noGrp="1"/>
          </p:cNvSpPr>
          <p:nvPr>
            <p:ph sz="half" idx="1"/>
          </p:nvPr>
        </p:nvSpPr>
        <p:spPr/>
        <p:txBody>
          <a:bodyPr/>
          <a:lstStyle/>
          <a:p>
            <a:r>
              <a:rPr lang="en-US" dirty="0"/>
              <a:t>Charge spreading is when electrons diffuse into adjacent pixels.</a:t>
            </a:r>
          </a:p>
          <a:p>
            <a:r>
              <a:rPr lang="en-US" dirty="0"/>
              <a:t>Proportional to size of field-free region</a:t>
            </a:r>
          </a:p>
          <a:p>
            <a:r>
              <a:rPr lang="en-US" dirty="0"/>
              <a:t>Could explain the discrepancy since this increases the correlations between pixels</a:t>
            </a:r>
          </a:p>
        </p:txBody>
      </p:sp>
      <p:pic>
        <p:nvPicPr>
          <p:cNvPr id="6" name="Content Placeholder 5" descr="A graph of a graph of a graph&#10;&#10;AI-generated content may be incorrect.">
            <a:extLst>
              <a:ext uri="{FF2B5EF4-FFF2-40B4-BE49-F238E27FC236}">
                <a16:creationId xmlns:a16="http://schemas.microsoft.com/office/drawing/2014/main" id="{F55CF64E-93D3-E032-324B-ED342C2D7376}"/>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172202" y="365125"/>
            <a:ext cx="5512095" cy="5613014"/>
          </a:xfrm>
        </p:spPr>
      </p:pic>
      <p:sp>
        <p:nvSpPr>
          <p:cNvPr id="7" name="TextBox 6">
            <a:extLst>
              <a:ext uri="{FF2B5EF4-FFF2-40B4-BE49-F238E27FC236}">
                <a16:creationId xmlns:a16="http://schemas.microsoft.com/office/drawing/2014/main" id="{B5CFE96C-C690-EB50-BF07-05A62C9B23CD}"/>
              </a:ext>
            </a:extLst>
          </p:cNvPr>
          <p:cNvSpPr txBox="1"/>
          <p:nvPr/>
        </p:nvSpPr>
        <p:spPr>
          <a:xfrm>
            <a:off x="9560873" y="5992297"/>
            <a:ext cx="1927579" cy="369332"/>
          </a:xfrm>
          <a:prstGeom prst="rect">
            <a:avLst/>
          </a:prstGeom>
          <a:noFill/>
        </p:spPr>
        <p:txBody>
          <a:bodyPr wrap="none" rtlCol="0">
            <a:spAutoFit/>
          </a:bodyPr>
          <a:lstStyle/>
          <a:p>
            <a:r>
              <a:rPr lang="en-US" dirty="0"/>
              <a:t>Stern et al. (2003)</a:t>
            </a:r>
          </a:p>
        </p:txBody>
      </p:sp>
    </p:spTree>
    <p:extLst>
      <p:ext uri="{BB962C8B-B14F-4D97-AF65-F5344CB8AC3E}">
        <p14:creationId xmlns:p14="http://schemas.microsoft.com/office/powerpoint/2010/main" val="42846347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055E59-C204-5C87-1835-FE62795A2F6A}"/>
              </a:ext>
            </a:extLst>
          </p:cNvPr>
          <p:cNvSpPr>
            <a:spLocks noGrp="1"/>
          </p:cNvSpPr>
          <p:nvPr>
            <p:ph type="title"/>
          </p:nvPr>
        </p:nvSpPr>
        <p:spPr/>
        <p:txBody>
          <a:bodyPr/>
          <a:lstStyle/>
          <a:p>
            <a:r>
              <a:rPr lang="en-US" dirty="0"/>
              <a:t>Charge Spreading Model</a:t>
            </a:r>
          </a:p>
        </p:txBody>
      </p:sp>
      <p:sp>
        <p:nvSpPr>
          <p:cNvPr id="3" name="Content Placeholder 2">
            <a:extLst>
              <a:ext uri="{FF2B5EF4-FFF2-40B4-BE49-F238E27FC236}">
                <a16:creationId xmlns:a16="http://schemas.microsoft.com/office/drawing/2014/main" id="{2DC64B47-8A1E-BD32-73CD-FD54FB26D083}"/>
              </a:ext>
            </a:extLst>
          </p:cNvPr>
          <p:cNvSpPr>
            <a:spLocks noGrp="1"/>
          </p:cNvSpPr>
          <p:nvPr>
            <p:ph idx="1"/>
          </p:nvPr>
        </p:nvSpPr>
        <p:spPr>
          <a:xfrm>
            <a:off x="838199" y="1690688"/>
            <a:ext cx="4601441" cy="4486275"/>
          </a:xfrm>
        </p:spPr>
        <p:txBody>
          <a:bodyPr/>
          <a:lstStyle/>
          <a:p>
            <a:r>
              <a:rPr lang="en-US" dirty="0" err="1"/>
              <a:t>Janesick</a:t>
            </a:r>
            <a:r>
              <a:rPr lang="en-US" dirty="0"/>
              <a:t> (2001) charge spreading model</a:t>
            </a:r>
          </a:p>
          <a:p>
            <a:r>
              <a:rPr lang="en-US" dirty="0"/>
              <a:t>Stern et al. (2004) measurements</a:t>
            </a:r>
          </a:p>
          <a:p>
            <a:r>
              <a:rPr lang="en-US" dirty="0"/>
              <a:t>Fit size of field-free region</a:t>
            </a:r>
          </a:p>
          <a:p>
            <a:r>
              <a:rPr lang="en-US" dirty="0"/>
              <a:t>Predicts a similar amount of charge spreading for both UV and visible light</a:t>
            </a:r>
          </a:p>
          <a:p>
            <a:pPr lvl="1"/>
            <a:r>
              <a:rPr lang="en-US" dirty="0"/>
              <a:t>Cannot explain IRIS and WFC3 discrepancies</a:t>
            </a:r>
          </a:p>
        </p:txBody>
      </p:sp>
      <p:pic>
        <p:nvPicPr>
          <p:cNvPr id="7" name="Graphic 6">
            <a:extLst>
              <a:ext uri="{FF2B5EF4-FFF2-40B4-BE49-F238E27FC236}">
                <a16:creationId xmlns:a16="http://schemas.microsoft.com/office/drawing/2014/main" id="{CB4032DD-8A1D-4C23-F64C-E86F98204E9D}"/>
              </a:ext>
            </a:extLst>
          </p:cNvPr>
          <p:cNvPicPr>
            <a:picLocks noChangeAspect="1"/>
          </p:cNvPicPr>
          <p:nvPr/>
        </p:nvPicPr>
        <p:blipFill>
          <a:blip r:embed="rId3">
            <a:extLst>
              <a:ext uri="{96DAC541-7B7A-43D3-8B79-37D633B846F1}">
                <asvg:svgBlip xmlns:asvg="http://schemas.microsoft.com/office/drawing/2016/SVG/main" r:embed="rId4" r:link="rId5"/>
              </a:ext>
            </a:extLst>
          </a:blip>
          <a:stretch>
            <a:fillRect/>
          </a:stretch>
        </p:blipFill>
        <p:spPr>
          <a:xfrm>
            <a:off x="5579165" y="1258094"/>
            <a:ext cx="6400800" cy="5486400"/>
          </a:xfrm>
          <a:prstGeom prst="rect">
            <a:avLst/>
          </a:prstGeom>
        </p:spPr>
      </p:pic>
    </p:spTree>
    <p:extLst>
      <p:ext uri="{BB962C8B-B14F-4D97-AF65-F5344CB8AC3E}">
        <p14:creationId xmlns:p14="http://schemas.microsoft.com/office/powerpoint/2010/main" val="137444239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8BC3ED-D34D-E64B-66BB-76E60127E16A}"/>
              </a:ext>
            </a:extLst>
          </p:cNvPr>
          <p:cNvSpPr>
            <a:spLocks noGrp="1"/>
          </p:cNvSpPr>
          <p:nvPr>
            <p:ph type="title"/>
          </p:nvPr>
        </p:nvSpPr>
        <p:spPr/>
        <p:txBody>
          <a:bodyPr/>
          <a:lstStyle/>
          <a:p>
            <a:r>
              <a:rPr lang="en-US" dirty="0"/>
              <a:t>Compare to Measurements</a:t>
            </a:r>
          </a:p>
        </p:txBody>
      </p:sp>
      <p:pic>
        <p:nvPicPr>
          <p:cNvPr id="8" name="Picture 7" descr="A table with numbers and a number&#10;&#10;AI-generated content may be incorrect.">
            <a:extLst>
              <a:ext uri="{FF2B5EF4-FFF2-40B4-BE49-F238E27FC236}">
                <a16:creationId xmlns:a16="http://schemas.microsoft.com/office/drawing/2014/main" id="{BB05BA9E-4E27-1326-EB52-BAFDCB4A542D}"/>
              </a:ext>
            </a:extLst>
          </p:cNvPr>
          <p:cNvPicPr>
            <a:picLocks noChangeAspect="1"/>
          </p:cNvPicPr>
          <p:nvPr/>
        </p:nvPicPr>
        <p:blipFill>
          <a:blip r:embed="rId3" r:link="rId4">
            <a:extLst>
              <a:ext uri="{28A0092B-C50C-407E-A947-70E740481C1C}">
                <a14:useLocalDpi xmlns:a14="http://schemas.microsoft.com/office/drawing/2010/main" val="0"/>
              </a:ext>
            </a:extLst>
          </a:blip>
          <a:stretch>
            <a:fillRect/>
          </a:stretch>
        </p:blipFill>
        <p:spPr>
          <a:xfrm>
            <a:off x="1195847" y="1480705"/>
            <a:ext cx="9800305" cy="5140768"/>
          </a:xfrm>
          <a:prstGeom prst="rect">
            <a:avLst/>
          </a:prstGeom>
        </p:spPr>
      </p:pic>
    </p:spTree>
    <p:extLst>
      <p:ext uri="{BB962C8B-B14F-4D97-AF65-F5344CB8AC3E}">
        <p14:creationId xmlns:p14="http://schemas.microsoft.com/office/powerpoint/2010/main" val="55266387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39AA0A-3925-913C-CDD4-36EF4604C56E}"/>
              </a:ext>
            </a:extLst>
          </p:cNvPr>
          <p:cNvSpPr>
            <a:spLocks noGrp="1"/>
          </p:cNvSpPr>
          <p:nvPr>
            <p:ph type="title"/>
          </p:nvPr>
        </p:nvSpPr>
        <p:spPr>
          <a:xfrm>
            <a:off x="838201" y="365125"/>
            <a:ext cx="3413622" cy="1681884"/>
          </a:xfrm>
        </p:spPr>
        <p:txBody>
          <a:bodyPr>
            <a:normAutofit/>
          </a:bodyPr>
          <a:lstStyle/>
          <a:p>
            <a:r>
              <a:rPr lang="en-US" dirty="0"/>
              <a:t>Affected Instruments</a:t>
            </a:r>
          </a:p>
        </p:txBody>
      </p:sp>
      <p:sp>
        <p:nvSpPr>
          <p:cNvPr id="3" name="Content Placeholder 2">
            <a:extLst>
              <a:ext uri="{FF2B5EF4-FFF2-40B4-BE49-F238E27FC236}">
                <a16:creationId xmlns:a16="http://schemas.microsoft.com/office/drawing/2014/main" id="{8718FB41-82CC-683C-12F3-B60FDB827400}"/>
              </a:ext>
            </a:extLst>
          </p:cNvPr>
          <p:cNvSpPr>
            <a:spLocks noGrp="1"/>
          </p:cNvSpPr>
          <p:nvPr>
            <p:ph idx="1"/>
          </p:nvPr>
        </p:nvSpPr>
        <p:spPr>
          <a:xfrm>
            <a:off x="838199" y="2353541"/>
            <a:ext cx="2829791" cy="3823422"/>
          </a:xfrm>
        </p:spPr>
        <p:txBody>
          <a:bodyPr>
            <a:normAutofit/>
          </a:bodyPr>
          <a:lstStyle/>
          <a:p>
            <a:r>
              <a:rPr lang="en-US" dirty="0"/>
              <a:t>AIA</a:t>
            </a:r>
          </a:p>
          <a:p>
            <a:pPr lvl="1"/>
            <a:r>
              <a:rPr lang="en-US" dirty="0"/>
              <a:t>94 Å</a:t>
            </a:r>
          </a:p>
          <a:p>
            <a:pPr lvl="1"/>
            <a:r>
              <a:rPr lang="en-US" dirty="0"/>
              <a:t>1600 Å</a:t>
            </a:r>
          </a:p>
          <a:p>
            <a:r>
              <a:rPr lang="en-US" dirty="0"/>
              <a:t>IRIS</a:t>
            </a:r>
          </a:p>
          <a:p>
            <a:pPr lvl="1"/>
            <a:r>
              <a:rPr lang="en-US" dirty="0"/>
              <a:t>1330 Å</a:t>
            </a:r>
          </a:p>
          <a:p>
            <a:pPr lvl="1"/>
            <a:r>
              <a:rPr lang="en-US" dirty="0"/>
              <a:t>1400 Å</a:t>
            </a:r>
          </a:p>
          <a:p>
            <a:r>
              <a:rPr lang="en-US" dirty="0"/>
              <a:t>MUSE</a:t>
            </a:r>
          </a:p>
          <a:p>
            <a:pPr lvl="1"/>
            <a:r>
              <a:rPr lang="en-US" dirty="0"/>
              <a:t>108 Å</a:t>
            </a:r>
          </a:p>
        </p:txBody>
      </p:sp>
      <p:pic>
        <p:nvPicPr>
          <p:cNvPr id="7" name="Picture 6" descr="A table of numbers and symbols&#10;&#10;AI-generated content may be incorrect.">
            <a:extLst>
              <a:ext uri="{FF2B5EF4-FFF2-40B4-BE49-F238E27FC236}">
                <a16:creationId xmlns:a16="http://schemas.microsoft.com/office/drawing/2014/main" id="{F0360076-BBDE-8AA9-252B-31102B824C59}"/>
              </a:ext>
            </a:extLst>
          </p:cNvPr>
          <p:cNvPicPr>
            <a:picLocks noChangeAspect="1"/>
          </p:cNvPicPr>
          <p:nvPr/>
        </p:nvPicPr>
        <p:blipFill>
          <a:blip r:embed="rId3" r:link="rId4">
            <a:extLst>
              <a:ext uri="{28A0092B-C50C-407E-A947-70E740481C1C}">
                <a14:useLocalDpi xmlns:a14="http://schemas.microsoft.com/office/drawing/2010/main" val="0"/>
              </a:ext>
            </a:extLst>
          </a:blip>
          <a:stretch>
            <a:fillRect/>
          </a:stretch>
        </p:blipFill>
        <p:spPr>
          <a:xfrm>
            <a:off x="4496008" y="260494"/>
            <a:ext cx="7477250" cy="6337012"/>
          </a:xfrm>
          <a:prstGeom prst="rect">
            <a:avLst/>
          </a:prstGeom>
        </p:spPr>
      </p:pic>
    </p:spTree>
    <p:extLst>
      <p:ext uri="{BB962C8B-B14F-4D97-AF65-F5344CB8AC3E}">
        <p14:creationId xmlns:p14="http://schemas.microsoft.com/office/powerpoint/2010/main" val="370326417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FC0BE8-92C1-A3C0-9EBD-139FC97180F2}"/>
              </a:ext>
            </a:extLst>
          </p:cNvPr>
          <p:cNvSpPr>
            <a:spLocks noGrp="1"/>
          </p:cNvSpPr>
          <p:nvPr>
            <p:ph type="title"/>
          </p:nvPr>
        </p:nvSpPr>
        <p:spPr/>
        <p:txBody>
          <a:bodyPr/>
          <a:lstStyle/>
          <a:p>
            <a:r>
              <a:rPr lang="en-US" dirty="0"/>
              <a:t>Conclusions</a:t>
            </a:r>
          </a:p>
        </p:txBody>
      </p:sp>
      <p:sp>
        <p:nvSpPr>
          <p:cNvPr id="3" name="Content Placeholder 2">
            <a:extLst>
              <a:ext uri="{FF2B5EF4-FFF2-40B4-BE49-F238E27FC236}">
                <a16:creationId xmlns:a16="http://schemas.microsoft.com/office/drawing/2014/main" id="{49C3D9FD-C4E1-3117-7A8A-A0AFE8269C47}"/>
              </a:ext>
            </a:extLst>
          </p:cNvPr>
          <p:cNvSpPr>
            <a:spLocks noGrp="1"/>
          </p:cNvSpPr>
          <p:nvPr>
            <p:ph sz="half" idx="1"/>
          </p:nvPr>
        </p:nvSpPr>
        <p:spPr>
          <a:xfrm>
            <a:off x="838200" y="1825625"/>
            <a:ext cx="10515600" cy="4351338"/>
          </a:xfrm>
        </p:spPr>
        <p:txBody>
          <a:bodyPr>
            <a:normAutofit/>
          </a:bodyPr>
          <a:lstStyle/>
          <a:p>
            <a:r>
              <a:rPr lang="en-US" dirty="0"/>
              <a:t>Partial charge collection is responsible for discrepancy in IRIS and WFC3 noise statistics</a:t>
            </a:r>
          </a:p>
          <a:p>
            <a:r>
              <a:rPr lang="en-US" dirty="0"/>
              <a:t>Charge spreading is less important</a:t>
            </a:r>
          </a:p>
          <a:p>
            <a:r>
              <a:rPr lang="en-US" dirty="0"/>
              <a:t>The model predicts better SNR in some wavelengths than expected from the simple model</a:t>
            </a:r>
          </a:p>
          <a:p>
            <a:r>
              <a:rPr lang="en-US" dirty="0"/>
              <a:t>Results affect AIA, IRIS, WFC3, and MUSE.</a:t>
            </a:r>
          </a:p>
          <a:p>
            <a:r>
              <a:rPr lang="en-US" dirty="0"/>
              <a:t>Code provided in our </a:t>
            </a:r>
            <a:r>
              <a:rPr lang="en-US" dirty="0" err="1">
                <a:latin typeface="Aptos Mono" panose="020F0502020204030204" pitchFamily="49" charset="0"/>
              </a:rPr>
              <a:t>optika</a:t>
            </a:r>
            <a:r>
              <a:rPr lang="en-US" dirty="0">
                <a:latin typeface="Aptos Mono" panose="020F0502020204030204" pitchFamily="49" charset="0"/>
              </a:rPr>
              <a:t> </a:t>
            </a:r>
            <a:r>
              <a:rPr lang="en-US" dirty="0"/>
              <a:t>Python package.</a:t>
            </a:r>
          </a:p>
          <a:p>
            <a:pPr lvl="1"/>
            <a:r>
              <a:rPr lang="en-US" dirty="0"/>
              <a:t>Published on </a:t>
            </a:r>
            <a:r>
              <a:rPr lang="en-US" dirty="0" err="1"/>
              <a:t>PyPI</a:t>
            </a:r>
            <a:endParaRPr lang="en-US" dirty="0"/>
          </a:p>
        </p:txBody>
      </p:sp>
    </p:spTree>
    <p:extLst>
      <p:ext uri="{BB962C8B-B14F-4D97-AF65-F5344CB8AC3E}">
        <p14:creationId xmlns:p14="http://schemas.microsoft.com/office/powerpoint/2010/main" val="165008609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12632</TotalTime>
  <Words>3444</Words>
  <Application>Microsoft Office PowerPoint</Application>
  <PresentationFormat>Widescreen</PresentationFormat>
  <Paragraphs>281</Paragraphs>
  <Slides>27</Slides>
  <Notes>27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27</vt:i4>
      </vt:variant>
    </vt:vector>
  </HeadingPairs>
  <TitlesOfParts>
    <vt:vector size="33" baseType="lpstr">
      <vt:lpstr>Aptos</vt:lpstr>
      <vt:lpstr>Aptos Display</vt:lpstr>
      <vt:lpstr>Aptos Mono</vt:lpstr>
      <vt:lpstr>Arial</vt:lpstr>
      <vt:lpstr>Cambria Math</vt:lpstr>
      <vt:lpstr>Office Theme</vt:lpstr>
      <vt:lpstr>The Noise Measured by Back-illuminated Silicon Sensors</vt:lpstr>
      <vt:lpstr>IRIS Noise Discrepancy</vt:lpstr>
      <vt:lpstr>HST/WFC3 Noise</vt:lpstr>
      <vt:lpstr>Outline</vt:lpstr>
      <vt:lpstr>Signal</vt:lpstr>
      <vt:lpstr>Back-illuminated Sensor Model</vt:lpstr>
      <vt:lpstr>Absorbance</vt:lpstr>
      <vt:lpstr>Quantum Yield</vt:lpstr>
      <vt:lpstr>Partial Charge Collection</vt:lpstr>
      <vt:lpstr>Average Charge-Collection Efficiency</vt:lpstr>
      <vt:lpstr>Quantum Efficiency</vt:lpstr>
      <vt:lpstr>Effective Quantum Efficiency (EQE)</vt:lpstr>
      <vt:lpstr>Noise</vt:lpstr>
      <vt:lpstr>Variance-to-mean ratio</vt:lpstr>
      <vt:lpstr>Simple Noise Model</vt:lpstr>
      <vt:lpstr>An Improved Noise Model</vt:lpstr>
      <vt:lpstr>Shot Noise</vt:lpstr>
      <vt:lpstr>Fano Noise</vt:lpstr>
      <vt:lpstr>PCC Noise</vt:lpstr>
      <vt:lpstr>Penetration depth</vt:lpstr>
      <vt:lpstr>Total Noise</vt:lpstr>
      <vt:lpstr>SNR improvement</vt:lpstr>
      <vt:lpstr>Charge spreading?</vt:lpstr>
      <vt:lpstr>Charge Spreading Model</vt:lpstr>
      <vt:lpstr>Compare to Measurements</vt:lpstr>
      <vt:lpstr>Affected Instruments</vt:lpstr>
      <vt:lpstr>Conclusions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Smart, Roy</dc:creator>
  <cp:lastModifiedBy>Smart, Roy</cp:lastModifiedBy>
  <cp:revision>45</cp:revision>
  <dcterms:created xsi:type="dcterms:W3CDTF">2025-06-03T02:12:18Z</dcterms:created>
  <dcterms:modified xsi:type="dcterms:W3CDTF">2025-10-09T06:42:29Z</dcterms:modified>
</cp:coreProperties>
</file>